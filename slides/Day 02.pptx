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7" r:id="rId10"/>
    <p:sldId id="278" r:id="rId11"/>
    <p:sldId id="275" r:id="rId12"/>
    <p:sldId id="276" r:id="rId13"/>
    <p:sldId id="279" r:id="rId14"/>
    <p:sldId id="280" r:id="rId15"/>
    <p:sldId id="281" r:id="rId16"/>
    <p:sldId id="282" r:id="rId17"/>
    <p:sldId id="283" r:id="rId18"/>
    <p:sldId id="297" r:id="rId19"/>
    <p:sldId id="284" r:id="rId20"/>
    <p:sldId id="285" r:id="rId21"/>
    <p:sldId id="287" r:id="rId22"/>
    <p:sldId id="286" r:id="rId23"/>
    <p:sldId id="294" r:id="rId24"/>
    <p:sldId id="288" r:id="rId25"/>
    <p:sldId id="295" r:id="rId26"/>
    <p:sldId id="289" r:id="rId27"/>
    <p:sldId id="290" r:id="rId28"/>
    <p:sldId id="291" r:id="rId29"/>
    <p:sldId id="292" r:id="rId30"/>
    <p:sldId id="293" r:id="rId31"/>
    <p:sldId id="29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027B2-57C4-4BBA-9E8B-8C907253835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115F3-A12F-4BB6-9C77-3D60D7E1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1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B581-7210-564D-DDD2-424631BE3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46304-0018-A436-EA32-F3DC15F29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48A44-4FD9-ED4C-55FD-82382B85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900D0-2098-4761-AAF8-0F6BB046FFC4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BC00B-4D1C-0F27-B844-64686206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5882-0DB4-8752-E66F-C9AF20F0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6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89EF-CFD4-A3AB-5705-6EC0F922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5C3C-31D3-FC89-D7DD-17A62AB29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D3EFB-A10C-ACF3-298C-34BFBA28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B9E7-6D83-4CB5-BA85-4DD78337CBC6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C26D4-95B2-9C3E-08F2-F78AF537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5427-3543-12D6-4830-566F48A3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4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AF84-DCD3-348B-A887-82460FF7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F1CA4-BE2B-2B48-D172-68C6E2107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2E0E-AA68-1BEF-C282-D8D25009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466E-DB42-47EF-A896-50A813DABE53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2A03E-290F-992B-5BB5-893E609C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DECF-4F8C-545D-9E40-F76FC16C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1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3E74-19CA-06E8-87F2-93D94848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FBCA-6D78-EC0D-5BD0-6287F3D4C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E4C1C-C076-96F0-226D-F40B30DAC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07915-9685-BCAC-8BDD-18747376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2835-5ADC-44FB-8E15-6E18C4A3A653}" type="datetime1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7E938-897C-1D90-74B6-BBE53D95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021D-B633-25BE-E931-5B73FC93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1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0372-BC31-CBA5-9239-306C7AB8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03C47-6ED9-2357-9E77-1B9579F82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F23D1-640A-B1C8-2662-7CB0C0220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89C5C-BECF-469B-EB8D-AF121D19B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B934C-3EC5-27EC-28B1-EAE317BE8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08A4F-323C-1EAC-5A4B-C1102EF5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8B9-A5AA-48EC-8C48-C475E2441A4D}" type="datetime1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10F57-F354-5C72-B60B-9E122527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5B600-662A-81C2-8970-6D75E5C4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0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4288-8BC8-2F1A-C722-F2D47C5F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12091-BA13-105E-3C73-0E7E0BA9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A804-F333-46B6-A5C6-F8A9328371DD}" type="datetime1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52557-8360-DF29-0E5F-C152D04B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A06A6-A4F7-6EF1-7C9B-7FF3645D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8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9F811-7E08-2D59-D5AF-FB467D28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45D0-48AA-4F08-A8C1-78DD914C4CAB}" type="datetime1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91AA6-B5E1-DED6-6587-57DA51CD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F8AA5-1ECF-764C-AD11-2EDDD492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8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1865-95B3-3DDB-31A5-2E2DC4B3E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A512-97AD-D5F9-2C38-48A58B3A6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7EB30-9DDA-DF57-4271-38DD6AA7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FFA16-4BB0-1009-73FB-3EA5873A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DF10-27C8-4AE2-8744-AEF4A9DD3A47}" type="datetime1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03662-F007-0470-1294-C727AFC2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64488-EA40-13C7-AF47-1F5EC63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4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294B-1ABD-CFC4-D8BF-81F86469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02519-A403-96E0-0400-025990F11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1B4DF-908E-C79F-56D7-0B4F74997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0D7ED-9317-9F7C-7D33-37D0B0F6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973C-0A73-4915-AF2A-0BEB9F046723}" type="datetime1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70427-571D-4FA4-9C80-1D5063EB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FF7C9-B231-7D9A-D4B9-5E5EC587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EF15-3AB3-3012-0776-FACD4F2B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B2AE4-6F32-1C6B-5E45-62038FE11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EA2C4-26E7-C3D5-0C6C-A746F647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EC0D-524F-4C2F-9F53-A3F1839DB3DB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E0CDF-D22F-E07A-9567-D7E6C043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37CEF-A06F-9035-C94A-B5B2DD17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3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BE156D-9B3E-3221-64BC-F5EE86611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9404B-6CD4-4B3E-BEC8-0134110AF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C69D1-F247-BC18-800E-9B1DB57B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861B-A0D9-490C-8F55-31AE25388FB9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AE5F7-9949-F44D-493F-C30AC18F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7D2C8-9670-AD1F-CF02-3543A3A5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1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E6E1C-22BA-18BB-4DB2-2232BC17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2EE0D-D688-BE48-B07B-F96C283B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61A57-A85E-63D2-46E2-1CBFE712F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BC10B-4BAA-458E-824E-48E8C78ACAAE}" type="datetime1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1C79-058A-ACC5-C530-3B37CE722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E64D6-BEA1-107B-F1AF-786724EF2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D9FB1-FB9D-468B-B15D-24E03B946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9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D7E6A-D5CC-471B-838A-02998ED9D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Kinematics and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003BA-200C-FCAE-BC8F-E59B8D1DD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3800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Day 02 | MP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9B60D-4CD8-58CB-557F-45542248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2" descr="Implicit Representation of the Orientation: a Rotation Matrix | Mecharithm">
            <a:extLst>
              <a:ext uri="{FF2B5EF4-FFF2-40B4-BE49-F238E27FC236}">
                <a16:creationId xmlns:a16="http://schemas.microsoft.com/office/drawing/2014/main" id="{FDD32A71-6BF6-F400-2B21-3FE17BD7C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174875"/>
            <a:ext cx="800100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05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A86D-3CFF-8D0C-AA3B-A09E8BC3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B67D-8CF4-5118-5D3C-F4DAF44C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frames, mapping and translation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A0995-0BC2-E579-A4A6-D2C04A20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3227-16D5-AFF0-E4D1-A4754460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1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A5AF4E-6B83-23D3-EC60-7867FC2C7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6" y="1411571"/>
            <a:ext cx="4365758" cy="4034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428D9E-60BD-B989-ABB0-101CA699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4240"/>
            <a:ext cx="3486637" cy="704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23EC88-5BA5-8C26-712C-C5C8091E6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19188"/>
            <a:ext cx="3534268" cy="638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EA4443-4E5D-C09D-0626-BA2137EDD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236" y="3428999"/>
            <a:ext cx="5229555" cy="17679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6523047-FE40-FEBA-BB5B-3BC68A1B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Coordinate frames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E815A4-1AA6-69D1-9EC5-F8E89133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2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F087-C7E1-B201-262B-FC150001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B9D70-024A-0D77-038B-50B820CF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08" y="1451941"/>
            <a:ext cx="8780207" cy="53776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E150CE-95D5-8B70-8461-9FF066A1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0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3833-4F40-4E48-7420-87769DF8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061CB-9D7A-D280-B641-82DAA11E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580627"/>
            <a:ext cx="10421804" cy="56967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3CA517-2814-2EF4-85C6-EC595C8E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2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7885-EAE2-1ADB-5133-3D13609D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5DB4B-FBD3-1925-C4A0-C9B4263E5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7" y="9833"/>
            <a:ext cx="8965063" cy="3116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332E4-CFAA-8A8C-68D8-5E583A061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07" y="2732293"/>
            <a:ext cx="8416413" cy="41281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4546B2-AA92-A7C7-07EF-FB3BF983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BB9C-3982-8D57-A548-E30592C7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Translated Frame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83130-9CDC-2D77-CFE7-9646DBD6E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73" y="1527987"/>
            <a:ext cx="7058938" cy="4657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0CAE6-00A0-DA52-D9BF-2BB77EC4C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685" y="2723076"/>
            <a:ext cx="2743583" cy="571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A2C9-D041-C396-F3C7-879499964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811" y="3294656"/>
            <a:ext cx="2667372" cy="5620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9615C-7146-AA2C-3154-26CFE080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0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8D92-0B82-DDC3-D13E-658A8605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07B2D5-1A36-A791-F894-1DD289440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1166497"/>
            <a:ext cx="10155067" cy="45250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5D985-66CD-CCF1-15F2-D2323B60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1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B5E3-424B-1C88-6645-93613856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Matrix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FD4CF0-DECF-E46A-0784-AE5A8FCD8681}"/>
              </a:ext>
            </a:extLst>
          </p:cNvPr>
          <p:cNvCxnSpPr>
            <a:cxnSpLocks/>
          </p:cNvCxnSpPr>
          <p:nvPr/>
        </p:nvCxnSpPr>
        <p:spPr>
          <a:xfrm flipV="1">
            <a:off x="2487563" y="1897626"/>
            <a:ext cx="0" cy="23007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4C66CB-6099-EB55-45B0-19C906E5C7CD}"/>
              </a:ext>
            </a:extLst>
          </p:cNvPr>
          <p:cNvCxnSpPr>
            <a:cxnSpLocks/>
          </p:cNvCxnSpPr>
          <p:nvPr/>
        </p:nvCxnSpPr>
        <p:spPr>
          <a:xfrm>
            <a:off x="2464703" y="4187314"/>
            <a:ext cx="2286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F0C5A9-7BE5-66D5-DA90-AD803EB8E0B0}"/>
              </a:ext>
            </a:extLst>
          </p:cNvPr>
          <p:cNvCxnSpPr>
            <a:cxnSpLocks/>
          </p:cNvCxnSpPr>
          <p:nvPr/>
        </p:nvCxnSpPr>
        <p:spPr>
          <a:xfrm flipH="1">
            <a:off x="1124812" y="4187314"/>
            <a:ext cx="1362751" cy="12032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62C7ED-DB59-B9DD-CE9F-1BEAD6C572F3}"/>
                  </a:ext>
                </a:extLst>
              </p:cNvPr>
              <p:cNvSpPr txBox="1"/>
              <p:nvPr/>
            </p:nvSpPr>
            <p:spPr>
              <a:xfrm>
                <a:off x="4649403" y="3936765"/>
                <a:ext cx="481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62C7ED-DB59-B9DD-CE9F-1BEAD6C57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403" y="3936765"/>
                <a:ext cx="4812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692110-A696-32E9-022C-9BCC4ACD206C}"/>
                  </a:ext>
                </a:extLst>
              </p:cNvPr>
              <p:cNvSpPr txBox="1"/>
              <p:nvPr/>
            </p:nvSpPr>
            <p:spPr>
              <a:xfrm>
                <a:off x="2224092" y="1452605"/>
                <a:ext cx="4523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692110-A696-32E9-022C-9BCC4ACD2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092" y="1452605"/>
                <a:ext cx="4523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2C4832-AECF-3D42-788E-409D614A1FDD}"/>
                  </a:ext>
                </a:extLst>
              </p:cNvPr>
              <p:cNvSpPr txBox="1"/>
              <p:nvPr/>
            </p:nvSpPr>
            <p:spPr>
              <a:xfrm>
                <a:off x="768672" y="5247365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2C4832-AECF-3D42-788E-409D614A1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72" y="5247365"/>
                <a:ext cx="47320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F5BE688F-8C36-735D-D4D6-EBF39D46A9EA}"/>
              </a:ext>
            </a:extLst>
          </p:cNvPr>
          <p:cNvSpPr/>
          <p:nvPr/>
        </p:nvSpPr>
        <p:spPr>
          <a:xfrm rot="21167789">
            <a:off x="2039212" y="2601616"/>
            <a:ext cx="845820" cy="523213"/>
          </a:xfrm>
          <a:prstGeom prst="curvedRightArrow">
            <a:avLst>
              <a:gd name="adj1" fmla="val 0"/>
              <a:gd name="adj2" fmla="val 21515"/>
              <a:gd name="adj3" fmla="val 4284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6FC1F5-E6C9-1719-EB5F-92513341B8DC}"/>
                  </a:ext>
                </a:extLst>
              </p:cNvPr>
              <p:cNvSpPr txBox="1"/>
              <p:nvPr/>
            </p:nvSpPr>
            <p:spPr>
              <a:xfrm>
                <a:off x="7561846" y="4456298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6FC1F5-E6C9-1719-EB5F-92513341B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846" y="4456298"/>
                <a:ext cx="4908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2974B2-4469-46AD-0EC5-49DCCF821BAC}"/>
              </a:ext>
            </a:extLst>
          </p:cNvPr>
          <p:cNvCxnSpPr/>
          <p:nvPr/>
        </p:nvCxnSpPr>
        <p:spPr>
          <a:xfrm>
            <a:off x="5282234" y="3175795"/>
            <a:ext cx="10515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B22508-CF00-CA7E-B19A-1A082F3B2D12}"/>
              </a:ext>
            </a:extLst>
          </p:cNvPr>
          <p:cNvCxnSpPr>
            <a:cxnSpLocks/>
          </p:cNvCxnSpPr>
          <p:nvPr/>
        </p:nvCxnSpPr>
        <p:spPr>
          <a:xfrm flipV="1">
            <a:off x="8052685" y="1908687"/>
            <a:ext cx="0" cy="23007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5498CB-C3AF-76EC-AE63-9F4283BFD344}"/>
              </a:ext>
            </a:extLst>
          </p:cNvPr>
          <p:cNvCxnSpPr>
            <a:cxnSpLocks/>
          </p:cNvCxnSpPr>
          <p:nvPr/>
        </p:nvCxnSpPr>
        <p:spPr>
          <a:xfrm>
            <a:off x="8029825" y="4198375"/>
            <a:ext cx="2286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08633B-87AE-5992-CAFD-5E8821CCE02A}"/>
              </a:ext>
            </a:extLst>
          </p:cNvPr>
          <p:cNvCxnSpPr>
            <a:cxnSpLocks/>
          </p:cNvCxnSpPr>
          <p:nvPr/>
        </p:nvCxnSpPr>
        <p:spPr>
          <a:xfrm flipH="1">
            <a:off x="6689934" y="4198375"/>
            <a:ext cx="1362751" cy="12032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602760-0BF0-898E-256F-A650C6F45B68}"/>
                  </a:ext>
                </a:extLst>
              </p:cNvPr>
              <p:cNvSpPr txBox="1"/>
              <p:nvPr/>
            </p:nvSpPr>
            <p:spPr>
              <a:xfrm>
                <a:off x="10214525" y="3947826"/>
                <a:ext cx="481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602760-0BF0-898E-256F-A650C6F45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525" y="3947826"/>
                <a:ext cx="4812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0C467F0-ABB4-43A1-A0CB-B69E5EF8C5BF}"/>
                  </a:ext>
                </a:extLst>
              </p:cNvPr>
              <p:cNvSpPr txBox="1"/>
              <p:nvPr/>
            </p:nvSpPr>
            <p:spPr>
              <a:xfrm>
                <a:off x="7789214" y="1463666"/>
                <a:ext cx="4523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0C467F0-ABB4-43A1-A0CB-B69E5EF8C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214" y="1463666"/>
                <a:ext cx="4523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6EA202-7C9E-6D97-D567-93EA64CC7F2D}"/>
                  </a:ext>
                </a:extLst>
              </p:cNvPr>
              <p:cNvSpPr txBox="1"/>
              <p:nvPr/>
            </p:nvSpPr>
            <p:spPr>
              <a:xfrm>
                <a:off x="6333794" y="5258426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6EA202-7C9E-6D97-D567-93EA64CC7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794" y="5258426"/>
                <a:ext cx="4732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173C98-9944-C790-C1F7-5B7B950015F4}"/>
              </a:ext>
            </a:extLst>
          </p:cNvPr>
          <p:cNvCxnSpPr/>
          <p:nvPr/>
        </p:nvCxnSpPr>
        <p:spPr>
          <a:xfrm flipH="1">
            <a:off x="8029825" y="4209436"/>
            <a:ext cx="22860" cy="176857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821AE9-32D3-9CF3-BEF4-81FB654ACE5F}"/>
              </a:ext>
            </a:extLst>
          </p:cNvPr>
          <p:cNvCxnSpPr/>
          <p:nvPr/>
        </p:nvCxnSpPr>
        <p:spPr>
          <a:xfrm flipV="1">
            <a:off x="8052685" y="2969342"/>
            <a:ext cx="1877896" cy="124009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F9916A-C615-CC9E-1AFF-1BC48B353060}"/>
                  </a:ext>
                </a:extLst>
              </p:cNvPr>
              <p:cNvSpPr txBox="1"/>
              <p:nvPr/>
            </p:nvSpPr>
            <p:spPr>
              <a:xfrm>
                <a:off x="8500793" y="3686216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F9916A-C615-CC9E-1AFF-1BC48B353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93" y="3686216"/>
                <a:ext cx="49084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B5BD99-03E3-FAF2-2E9C-FC1062C76E4A}"/>
                  </a:ext>
                </a:extLst>
              </p:cNvPr>
              <p:cNvSpPr txBox="1"/>
              <p:nvPr/>
            </p:nvSpPr>
            <p:spPr>
              <a:xfrm>
                <a:off x="7816082" y="5989073"/>
                <a:ext cx="4988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B5BD99-03E3-FAF2-2E9C-FC1062C7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2" y="5989073"/>
                <a:ext cx="49885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478A1F-4F05-B2E4-5C12-12A388433AA7}"/>
                  </a:ext>
                </a:extLst>
              </p:cNvPr>
              <p:cNvSpPr txBox="1"/>
              <p:nvPr/>
            </p:nvSpPr>
            <p:spPr>
              <a:xfrm>
                <a:off x="9820903" y="2601612"/>
                <a:ext cx="4988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478A1F-4F05-B2E4-5C12-12A38843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903" y="2601612"/>
                <a:ext cx="49885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A70F444-4A4F-0B16-841B-F7B86BA21EDC}"/>
                  </a:ext>
                </a:extLst>
              </p:cNvPr>
              <p:cNvSpPr txBox="1"/>
              <p:nvPr/>
            </p:nvSpPr>
            <p:spPr>
              <a:xfrm>
                <a:off x="8052685" y="1470600"/>
                <a:ext cx="6837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A70F444-4A4F-0B16-841B-F7B86BA2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685" y="1470600"/>
                <a:ext cx="68371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4B1E83-E16F-D35F-61F9-01827DD410F5}"/>
                  </a:ext>
                </a:extLst>
              </p:cNvPr>
              <p:cNvSpPr txBox="1"/>
              <p:nvPr/>
            </p:nvSpPr>
            <p:spPr>
              <a:xfrm>
                <a:off x="7180076" y="2278164"/>
                <a:ext cx="7601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4B1E83-E16F-D35F-61F9-01827DD41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076" y="2278164"/>
                <a:ext cx="76014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41A16C-2F52-0064-61E1-4E7176089052}"/>
                  </a:ext>
                </a:extLst>
              </p:cNvPr>
              <p:cNvSpPr txBox="1"/>
              <p:nvPr/>
            </p:nvSpPr>
            <p:spPr>
              <a:xfrm>
                <a:off x="9259839" y="3187394"/>
                <a:ext cx="7601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41A16C-2F52-0064-61E1-4E717608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839" y="3187394"/>
                <a:ext cx="76014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616C36-C483-F48C-D7B5-329D2A4E03EE}"/>
                  </a:ext>
                </a:extLst>
              </p:cNvPr>
              <p:cNvSpPr txBox="1"/>
              <p:nvPr/>
            </p:nvSpPr>
            <p:spPr>
              <a:xfrm>
                <a:off x="2882545" y="2722483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616C36-C483-F48C-D7B5-329D2A4E0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545" y="2722483"/>
                <a:ext cx="49084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6B07E-5F0A-7AD7-02F2-F9D2FEA2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3" grpId="0"/>
      <p:bldP spid="24" grpId="0"/>
      <p:bldP spid="31" grpId="0"/>
      <p:bldP spid="32" grpId="0"/>
      <p:bldP spid="33" grpId="0"/>
      <p:bldP spid="34" grpId="0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B6FF-CBA8-3371-AB64-EDED9612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3F318E-B115-64E8-BD29-354278EE156B}"/>
                  </a:ext>
                </a:extLst>
              </p:cNvPr>
              <p:cNvSpPr txBox="1"/>
              <p:nvPr/>
            </p:nvSpPr>
            <p:spPr>
              <a:xfrm>
                <a:off x="3331076" y="772268"/>
                <a:ext cx="5529847" cy="1678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3F318E-B115-64E8-BD29-354278EE1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076" y="772268"/>
                <a:ext cx="5529847" cy="16789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9E6E8F-9E86-EDD9-E115-A11FB3D7C28C}"/>
                  </a:ext>
                </a:extLst>
              </p:cNvPr>
              <p:cNvSpPr txBox="1"/>
              <p:nvPr/>
            </p:nvSpPr>
            <p:spPr>
              <a:xfrm>
                <a:off x="1002938" y="2796587"/>
                <a:ext cx="10186122" cy="1702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⁡(90+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⁡(90−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9E6E8F-9E86-EDD9-E115-A11FB3D7C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38" y="2796587"/>
                <a:ext cx="10186122" cy="1702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19723-157B-6C8C-9610-F14B8910B0A2}"/>
                  </a:ext>
                </a:extLst>
              </p:cNvPr>
              <p:cNvSpPr txBox="1"/>
              <p:nvPr/>
            </p:nvSpPr>
            <p:spPr>
              <a:xfrm>
                <a:off x="208177" y="5167998"/>
                <a:ext cx="3796296" cy="1143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19723-157B-6C8C-9610-F14B8910B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77" y="5167998"/>
                <a:ext cx="3796296" cy="1143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C725F6-EF03-2477-51C7-C430EC1470C9}"/>
                  </a:ext>
                </a:extLst>
              </p:cNvPr>
              <p:cNvSpPr txBox="1"/>
              <p:nvPr/>
            </p:nvSpPr>
            <p:spPr>
              <a:xfrm>
                <a:off x="4326242" y="5171588"/>
                <a:ext cx="3849066" cy="1139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C725F6-EF03-2477-51C7-C430EC147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242" y="5171588"/>
                <a:ext cx="3849066" cy="1139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241340-4B62-4CFF-D92B-A2B6194C75F0}"/>
                  </a:ext>
                </a:extLst>
              </p:cNvPr>
              <p:cNvSpPr txBox="1"/>
              <p:nvPr/>
            </p:nvSpPr>
            <p:spPr>
              <a:xfrm>
                <a:off x="8287549" y="5171588"/>
                <a:ext cx="3872791" cy="1143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241340-4B62-4CFF-D92B-A2B6194C7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549" y="5171588"/>
                <a:ext cx="3872791" cy="11431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EE0D9-E824-6127-4A31-39D8145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75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E875-5679-49BD-9570-22DBC5A4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03490-5741-60DD-232C-3D128241A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48919"/>
            <a:ext cx="10050278" cy="3610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D11B9-8D28-0D17-DDD0-FE7DAC52E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91" y="3897156"/>
            <a:ext cx="5325218" cy="1895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D9FF4-696D-1783-3F26-9FD409B607A7}"/>
                  </a:ext>
                </a:extLst>
              </p:cNvPr>
              <p:cNvSpPr txBox="1"/>
              <p:nvPr/>
            </p:nvSpPr>
            <p:spPr>
              <a:xfrm>
                <a:off x="9065342" y="5692875"/>
                <a:ext cx="24657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𝑺𝒄𝒂𝒍𝒆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𝑭𝒂𝒄𝒕𝒐𝒓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D9FF4-696D-1783-3F26-9FD409B60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342" y="5692875"/>
                <a:ext cx="246574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152F4A-5028-9E7B-F966-EF7D5B6ED303}"/>
              </a:ext>
            </a:extLst>
          </p:cNvPr>
          <p:cNvCxnSpPr/>
          <p:nvPr/>
        </p:nvCxnSpPr>
        <p:spPr>
          <a:xfrm flipH="1" flipV="1">
            <a:off x="8239432" y="5063610"/>
            <a:ext cx="943897" cy="8455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4B4B4DB-DB8F-589A-B744-C46920D751E9}"/>
              </a:ext>
            </a:extLst>
          </p:cNvPr>
          <p:cNvSpPr/>
          <p:nvPr/>
        </p:nvSpPr>
        <p:spPr>
          <a:xfrm>
            <a:off x="8023123" y="4660488"/>
            <a:ext cx="285134" cy="41295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CDF064-53AA-9816-1381-BB9146D57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899" y="6083709"/>
            <a:ext cx="6411220" cy="73352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4581A-E3A8-45A0-F810-B63ADE96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F5F7-89BB-63D2-DB35-0FB4895B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AD7E8-412D-D916-DB5C-0C48FA46A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068" y="664540"/>
            <a:ext cx="2791215" cy="847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E32375-2E02-5EA4-C25D-C1ABF4B12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76" y="1819364"/>
            <a:ext cx="5182323" cy="3343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5671DE-B4D3-A2A4-5F1D-595B6189A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676" y="2433326"/>
            <a:ext cx="5581379" cy="211581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A0B8E-F09D-5B55-BDAE-0FBEC802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6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FCEC-0AED-51B6-52BC-3ACEF3F4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Rotation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82D28-D07D-E66E-EB5D-3FF10E24A7F6}"/>
              </a:ext>
            </a:extLst>
          </p:cNvPr>
          <p:cNvSpPr txBox="1"/>
          <p:nvPr/>
        </p:nvSpPr>
        <p:spPr>
          <a:xfrm>
            <a:off x="838200" y="1454713"/>
            <a:ext cx="11189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overall rotation matrix representing a rotation of angle 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about x-axis followed by a rotation of angle 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about y-axis is given by,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D25CE-A8D4-3B66-7B9C-401B7A9F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33" y="2565650"/>
            <a:ext cx="6325533" cy="35790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33B722-A75F-7304-DD81-DACC513F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7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94F47D-5BB2-E093-CAA6-6E7188B5ACE8}"/>
              </a:ext>
            </a:extLst>
          </p:cNvPr>
          <p:cNvSpPr txBox="1"/>
          <p:nvPr/>
        </p:nvSpPr>
        <p:spPr>
          <a:xfrm>
            <a:off x="838200" y="1312888"/>
            <a:ext cx="111104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The sequence of multiplication of 𝑅 matrices is very important.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different sequence may not give the same result and obviously will not correspond to same orientation of the rotated frame. This is because the matrix product is not commutative.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Two rotations in general do not result in same orientation and the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resultant rotation matrix depends on the order of rotations.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4F691-0E4E-5DC8-3917-241A25EF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0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0119C9-F0B5-05C2-1D27-BD75D8889415}"/>
              </a:ext>
            </a:extLst>
          </p:cNvPr>
          <p:cNvSpPr txBox="1"/>
          <p:nvPr/>
        </p:nvSpPr>
        <p:spPr>
          <a:xfrm>
            <a:off x="570271" y="1524000"/>
            <a:ext cx="11208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Another significant factor is how the rotations are performed. There are two alternatives.</a:t>
            </a:r>
          </a:p>
          <a:p>
            <a:r>
              <a:rPr lang="en-US" sz="3200" dirty="0"/>
              <a:t>1. To perform successive rotations about the principal axes of the fixed frame.</a:t>
            </a:r>
          </a:p>
          <a:p>
            <a:r>
              <a:rPr lang="en-US" sz="3200" dirty="0"/>
              <a:t>2. To perform successive rotations about the current principal axes of a moving frame.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28858-A630-1598-4958-FFF08B0F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99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B66B-69BB-0F1C-BFF6-50EE412C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76740-3727-B9E8-C5DB-79B2A8B33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6" y="0"/>
            <a:ext cx="11929688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1B2405-F7AF-4895-1814-2BD167DB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92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89DC-C30C-3FF6-89AA-1373C866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D9862-0572-F64A-5B5C-547D83B48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8" y="0"/>
            <a:ext cx="12129103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FB6E3-3756-7651-D5CE-09466D3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0D04-6D24-2DE4-9F76-1A68A6E8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Rigid Body Rotation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B08BD-8807-BCED-B66D-AD1B056FF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angle representation and Euler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0B254-DE60-776C-669B-341237EA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9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E0EA-0C92-EA09-A4B8-124FFA0E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angle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260EF-C2F0-1DAC-1EF5-EB99B6C678B9}"/>
              </a:ext>
            </a:extLst>
          </p:cNvPr>
          <p:cNvSpPr txBox="1"/>
          <p:nvPr/>
        </p:nvSpPr>
        <p:spPr>
          <a:xfrm>
            <a:off x="838200" y="1318822"/>
            <a:ext cx="830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Each rotation is specified about an axis of fixed reference frame.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74ED3-D9E8-8A7A-497E-FC8F19DFD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74" y="2115874"/>
            <a:ext cx="9027740" cy="1313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51CC7C-7C52-5DE5-6D37-1EA433F85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7" y="3429000"/>
            <a:ext cx="9037157" cy="13069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00E08A-EF35-5C10-D568-BCDCEE786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21" y="4770779"/>
            <a:ext cx="9037158" cy="1278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EEB596-0EA7-4ACD-735A-E161AC33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3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D556-9132-26EC-4642-4792038C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5F5B5-9061-B288-171B-CF35060B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95049"/>
            <a:ext cx="10679015" cy="46679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59F219-2ADD-F724-F3E3-E889912A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60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46B0-8C77-B6E0-4844-85448152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6061F-BF79-41E1-F9BA-6B36E36E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54" y="463516"/>
            <a:ext cx="9812491" cy="59309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324A6-D530-FEC3-40B6-2A2A5AFD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52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156-752D-B9C5-9C1F-B3E666AB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D4800-1337-B593-66EE-EBA029020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3800"/>
            <a:ext cx="9565322" cy="27643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9FBEE-79A3-B8CF-873D-6614C15B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83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E138-16D7-55B3-4557-EB2D81B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F7BE8-8627-B5C9-A4DD-5CB3BDF1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2AE4D-50EB-7AA1-6AD7-2360F11CB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44" y="216737"/>
            <a:ext cx="7428111" cy="664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20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2764-8976-9B3B-E9EF-889A540D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B1990-CB0F-CA7C-A6B7-BA6EAE1D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480809" cy="23989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B9977-2782-EA72-2FA0-86BC5901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35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018C-5C18-1E65-5346-450663F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12460-7827-5DE2-4A2F-1414CAAA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85B52-9710-F50C-723C-1E3D3F15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67" y="1336290"/>
            <a:ext cx="9934066" cy="418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60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E5FF-DDF7-EAF4-524E-14C9AEBB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angle representation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A6DB6-1FA0-DFE2-6CE0-9F08B4CD1549}"/>
              </a:ext>
            </a:extLst>
          </p:cNvPr>
          <p:cNvSpPr txBox="1"/>
          <p:nvPr/>
        </p:nvSpPr>
        <p:spPr>
          <a:xfrm>
            <a:off x="838200" y="1563330"/>
            <a:ext cx="1084498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The moving frame, instead of rotating about the principal axes of the fixed frame, can rotate about its own principal axes.</a:t>
            </a:r>
          </a:p>
          <a:p>
            <a:endParaRPr lang="en-US" sz="3200" dirty="0"/>
          </a:p>
          <a:p>
            <a:r>
              <a:rPr lang="en-US" sz="3200" dirty="0"/>
              <a:t>Consider the rotations of frame {2} w.r.t frame {1}, starting from the position when the two frames are coincident.</a:t>
            </a:r>
          </a:p>
          <a:p>
            <a:endParaRPr lang="en-US" sz="3200" dirty="0"/>
          </a:p>
          <a:p>
            <a:r>
              <a:rPr lang="en-US" sz="3200" dirty="0"/>
              <a:t>This convention for specifying orientation is called WVU-Euler angle representation.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F8AAE2-B779-FF5E-81E7-EC9A3FCD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83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B1E2-F454-F426-1066-D86E9FA9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BEF2D-942D-F0C3-35CF-E8AB96A5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04" y="565138"/>
            <a:ext cx="11361392" cy="139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1B880-CEA0-94DF-B27F-55B632FF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04" y="2422619"/>
            <a:ext cx="10675483" cy="1487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03563-2D68-B35B-2F06-7B8BF79D7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04" y="4323738"/>
            <a:ext cx="11361392" cy="1389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F52D4A-5C06-CC28-9B4E-4A1CB3A2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03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21A9-ED1A-B8CB-DA44-85A77DBF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9186E-AD43-D39C-7C97-EBBF1E6E6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880707"/>
            <a:ext cx="11879333" cy="50965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EA85B7-C42B-189A-5E71-FAA45699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49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534F-0F44-0BA7-7946-CA74CBAD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61F4C-5E93-62EE-3350-FDEC33DA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580627"/>
            <a:ext cx="10193173" cy="56967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6BADC-597B-D7C5-010A-1B0A0CBC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9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021F-4EA0-A7ED-7AE4-410F0B26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E64AF-3741-19CA-D409-C484F6A10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932203"/>
            <a:ext cx="10323871" cy="271806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88D72-53AA-B38C-9B94-5E5BDAE7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27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01E9-3854-1FE2-BDA8-18CA9F67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0A880-F199-CA8B-4E7B-428E4232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91264-D788-8D66-738E-8B5246A1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96" y="43124"/>
            <a:ext cx="7642789" cy="2852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EFBA7-B69E-34AA-92C4-2656F7244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6" y="2811060"/>
            <a:ext cx="6931462" cy="404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3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334</Words>
  <Application>Microsoft Office PowerPoint</Application>
  <PresentationFormat>Widescreen</PresentationFormat>
  <Paragraphs>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Cambria Math</vt:lpstr>
      <vt:lpstr>Office Theme</vt:lpstr>
      <vt:lpstr>Kinematics and Dynamics</vt:lpstr>
      <vt:lpstr>Coordinate frames, mapping and translation matrix</vt:lpstr>
      <vt:lpstr>Coordinate frames</vt:lpstr>
      <vt:lpstr>Matrix form</vt:lpstr>
      <vt:lpstr>PowerPoint Presentation</vt:lpstr>
      <vt:lpstr>PowerPoint Presentation</vt:lpstr>
      <vt:lpstr>Translated Frame</vt:lpstr>
      <vt:lpstr>PowerPoint Presentation</vt:lpstr>
      <vt:lpstr>Rotation Matrix</vt:lpstr>
      <vt:lpstr>PowerPoint Presentation</vt:lpstr>
      <vt:lpstr>PowerPoint Presentation</vt:lpstr>
      <vt:lpstr>PowerPoint Presentation</vt:lpstr>
      <vt:lpstr>Fundamental Rotation Matrix</vt:lpstr>
      <vt:lpstr>PowerPoint Presentation</vt:lpstr>
      <vt:lpstr>PowerPoint Presentation</vt:lpstr>
      <vt:lpstr>PowerPoint Presentation</vt:lpstr>
      <vt:lpstr>PowerPoint Presentation</vt:lpstr>
      <vt:lpstr>Rigid Body Rotation</vt:lpstr>
      <vt:lpstr>Fixed angle representation</vt:lpstr>
      <vt:lpstr>PowerPoint Presentation</vt:lpstr>
      <vt:lpstr>PowerPoint Presentation</vt:lpstr>
      <vt:lpstr>Question</vt:lpstr>
      <vt:lpstr>PowerPoint Presentation</vt:lpstr>
      <vt:lpstr>Question</vt:lpstr>
      <vt:lpstr>PowerPoint Presentation</vt:lpstr>
      <vt:lpstr>Euler angle representation </vt:lpstr>
      <vt:lpstr>PowerPoint Presentation</vt:lpstr>
      <vt:lpstr>PowerPoint Presentation</vt:lpstr>
      <vt:lpstr>PowerPoint Presentation</vt:lpstr>
      <vt:lpstr>Question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PERERA W.T.R.T.</dc:creator>
  <cp:lastModifiedBy>PERERA W.T.R.T.</cp:lastModifiedBy>
  <cp:revision>8</cp:revision>
  <dcterms:created xsi:type="dcterms:W3CDTF">2025-07-04T05:22:06Z</dcterms:created>
  <dcterms:modified xsi:type="dcterms:W3CDTF">2025-08-09T19:24:27Z</dcterms:modified>
</cp:coreProperties>
</file>