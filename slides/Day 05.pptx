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7" r:id="rId2"/>
    <p:sldId id="258" r:id="rId3"/>
    <p:sldId id="260" r:id="rId4"/>
    <p:sldId id="261" r:id="rId5"/>
    <p:sldId id="264" r:id="rId6"/>
    <p:sldId id="262" r:id="rId7"/>
    <p:sldId id="313" r:id="rId8"/>
    <p:sldId id="318" r:id="rId9"/>
    <p:sldId id="315" r:id="rId10"/>
    <p:sldId id="314" r:id="rId11"/>
    <p:sldId id="317" r:id="rId12"/>
    <p:sldId id="283"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319" r:id="rId31"/>
    <p:sldId id="320" r:id="rId32"/>
    <p:sldId id="321" r:id="rId33"/>
    <p:sldId id="282" r:id="rId34"/>
    <p:sldId id="322" r:id="rId35"/>
    <p:sldId id="323" r:id="rId36"/>
    <p:sldId id="324" r:id="rId37"/>
    <p:sldId id="325" r:id="rId38"/>
    <p:sldId id="326" r:id="rId39"/>
    <p:sldId id="327" r:id="rId40"/>
    <p:sldId id="328" r:id="rId41"/>
    <p:sldId id="329" r:id="rId42"/>
    <p:sldId id="31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C7AD8-9E99-438C-BA0A-FA4C4F0E9495}" type="datetimeFigureOut">
              <a:rPr lang="en-US" smtClean="0"/>
              <a:t>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36B55B-EEDA-4136-AF53-7579E35A1D99}" type="slidenum">
              <a:rPr lang="en-US" smtClean="0"/>
              <a:t>‹#›</a:t>
            </a:fld>
            <a:endParaRPr lang="en-US"/>
          </a:p>
        </p:txBody>
      </p:sp>
    </p:spTree>
    <p:extLst>
      <p:ext uri="{BB962C8B-B14F-4D97-AF65-F5344CB8AC3E}">
        <p14:creationId xmlns:p14="http://schemas.microsoft.com/office/powerpoint/2010/main" val="58837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6B55B-EEDA-4136-AF53-7579E35A1D99}" type="slidenum">
              <a:rPr lang="en-US" smtClean="0"/>
              <a:t>25</a:t>
            </a:fld>
            <a:endParaRPr lang="en-US"/>
          </a:p>
        </p:txBody>
      </p:sp>
    </p:spTree>
    <p:extLst>
      <p:ext uri="{BB962C8B-B14F-4D97-AF65-F5344CB8AC3E}">
        <p14:creationId xmlns:p14="http://schemas.microsoft.com/office/powerpoint/2010/main" val="1112942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8EED3-FC05-DA00-4F27-F22197197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F37F84-CA78-FCA4-F05F-0BAE7C6274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F043D0-6FA7-B888-7EED-AE61FA823A40}"/>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AC9317D8-CC63-3DFB-77E1-998C28628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E1FB7-316F-A280-7380-6F6C6B597D36}"/>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838023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45A06-92A2-238D-988E-6EE848CE29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67C2CD-76EE-6B5E-2747-B37B3B21D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61650-8C50-62E2-AE07-5208727BE0D2}"/>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150F4213-8A41-96AC-A05E-07C836203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A93B5-C82C-28E0-18E7-E165F666A3E5}"/>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3287237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60929-5020-388B-203C-792960C849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39D676-42C3-E79D-5864-0554599553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2B3E9A-9675-6C75-A285-D0D6A101BC39}"/>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F3BF5F54-1687-A0BD-2278-7B425A12C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50F3F-314D-8B48-7E75-366127C7B255}"/>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256671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901B4-465C-7592-ADA6-A787451FA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BAE73B-4B55-85F6-0755-2B20879D39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A3B82D-1D71-8470-D79D-ACC098B4BC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B382-28CB-2836-0A29-EE5682C2CECD}"/>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6" name="Footer Placeholder 5">
            <a:extLst>
              <a:ext uri="{FF2B5EF4-FFF2-40B4-BE49-F238E27FC236}">
                <a16:creationId xmlns:a16="http://schemas.microsoft.com/office/drawing/2014/main" id="{7F583155-D721-2C47-5C9E-1483AE6724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8F9CB6-9B9F-5FA5-3885-E24C707BDB1F}"/>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73821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7101-EBCA-029E-7F18-6FA5EA72C8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EC3ADE-DBDF-5F15-DFA0-9D6992F1B6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13AED4-C142-3523-2B50-5DCB8485E0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566A4C-920A-9DDF-17CF-59ECC941F4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FAA928-9846-E778-3C6F-2FCABA247B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0CB823-2788-92B0-44FA-795E865C1DE7}"/>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8" name="Footer Placeholder 7">
            <a:extLst>
              <a:ext uri="{FF2B5EF4-FFF2-40B4-BE49-F238E27FC236}">
                <a16:creationId xmlns:a16="http://schemas.microsoft.com/office/drawing/2014/main" id="{118466F0-B3E1-0275-4F73-0EF7C5A029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01BE47-7935-3DF1-F11E-EB1934E289F3}"/>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1677565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37575-CC93-2880-2D64-D430D08417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A61615-74D7-D998-858A-4072F91ECD52}"/>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4" name="Footer Placeholder 3">
            <a:extLst>
              <a:ext uri="{FF2B5EF4-FFF2-40B4-BE49-F238E27FC236}">
                <a16:creationId xmlns:a16="http://schemas.microsoft.com/office/drawing/2014/main" id="{E3A4A921-BF49-3EAB-34D8-51310CD10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AAE43A-15EA-5986-729C-BAECBB870417}"/>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3489502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16C7FA-98FC-42C3-9C0F-29143D01F45E}"/>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3" name="Footer Placeholder 2">
            <a:extLst>
              <a:ext uri="{FF2B5EF4-FFF2-40B4-BE49-F238E27FC236}">
                <a16:creationId xmlns:a16="http://schemas.microsoft.com/office/drawing/2014/main" id="{34843234-CABA-CFAD-CD95-9CB4CE5A34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290014-57DA-33C0-9E80-DCF848E0C684}"/>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69361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6A30D-F591-6BEA-3011-110CDDFA8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25FA2-B928-032B-0D95-D9952FF94A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5F026A-684D-323C-5CAD-3B47C14D7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3B414-9764-DC44-8344-EB1A3EB9F0FB}"/>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6" name="Footer Placeholder 5">
            <a:extLst>
              <a:ext uri="{FF2B5EF4-FFF2-40B4-BE49-F238E27FC236}">
                <a16:creationId xmlns:a16="http://schemas.microsoft.com/office/drawing/2014/main" id="{0D406234-7E73-3069-E9A8-FC400DC84E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824F86-D5C2-8616-FF0A-D614209D9046}"/>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684070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9B36B-E38F-258A-8341-2B537C84DE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1E0D7F-7DB4-8ACE-585D-EAAC4DBFBA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A2E42A-B6DC-E889-3A04-8CA5C8989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5747D4-1605-346C-EEDC-EA5D93616C36}"/>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6" name="Footer Placeholder 5">
            <a:extLst>
              <a:ext uri="{FF2B5EF4-FFF2-40B4-BE49-F238E27FC236}">
                <a16:creationId xmlns:a16="http://schemas.microsoft.com/office/drawing/2014/main" id="{188EC2FA-A5D5-2F3F-E0F1-67F62AA9F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BA3AFE-B738-CF8D-2BC0-7F9226C864E6}"/>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357815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8047-D27A-ADA8-3DA5-A4DAD3D78C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4C4FA4-3497-CAEB-74CC-3A4A612E9A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F14172-E630-D22E-9D49-B5099504E5B9}"/>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ED548EBB-8866-6DBC-CD64-AB8B1AC44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5EE2BF-3AF7-84DE-B874-9798A6DD750A}"/>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69657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00DB4C-BB79-1CEE-3496-BC44F3055B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FBCE5A-A08E-7431-7F81-ED0898AE8A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C3A17-FB89-892F-CBED-F2CBEDF51D95}"/>
              </a:ext>
            </a:extLst>
          </p:cNvPr>
          <p:cNvSpPr>
            <a:spLocks noGrp="1"/>
          </p:cNvSpPr>
          <p:nvPr>
            <p:ph type="dt" sz="half" idx="10"/>
          </p:nvPr>
        </p:nvSpPr>
        <p:spPr/>
        <p:txBody>
          <a:body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B5FD7B1B-8765-889F-380F-FF78406A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9C561-FB5C-A5B5-0527-9825FAD540EF}"/>
              </a:ext>
            </a:extLst>
          </p:cNvPr>
          <p:cNvSpPr>
            <a:spLocks noGrp="1"/>
          </p:cNvSpPr>
          <p:nvPr>
            <p:ph type="sldNum" sz="quarter" idx="12"/>
          </p:nvPr>
        </p:nvSpPr>
        <p:spPr/>
        <p:txBody>
          <a:bodyPr/>
          <a:lstStyle/>
          <a:p>
            <a:fld id="{B6F6278B-F5B0-47A0-B9DD-0469F8902980}" type="slidenum">
              <a:rPr lang="en-US" smtClean="0"/>
              <a:t>‹#›</a:t>
            </a:fld>
            <a:endParaRPr lang="en-US"/>
          </a:p>
        </p:txBody>
      </p:sp>
    </p:spTree>
    <p:extLst>
      <p:ext uri="{BB962C8B-B14F-4D97-AF65-F5344CB8AC3E}">
        <p14:creationId xmlns:p14="http://schemas.microsoft.com/office/powerpoint/2010/main" val="361145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82AC29-3D0F-3BBA-7BA8-AAD1D52F52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C5423D-474A-9477-B28A-D194CCFED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7DE5D5-5525-52A2-AA67-162F913618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C1A3C0-5C14-456B-A2F7-7E522CF5D0FD}" type="datetimeFigureOut">
              <a:rPr lang="en-US" smtClean="0"/>
              <a:t>8/10/2025</a:t>
            </a:fld>
            <a:endParaRPr lang="en-US"/>
          </a:p>
        </p:txBody>
      </p:sp>
      <p:sp>
        <p:nvSpPr>
          <p:cNvPr id="5" name="Footer Placeholder 4">
            <a:extLst>
              <a:ext uri="{FF2B5EF4-FFF2-40B4-BE49-F238E27FC236}">
                <a16:creationId xmlns:a16="http://schemas.microsoft.com/office/drawing/2014/main" id="{D22BB4D5-BD1A-9A6E-3061-D94F95C929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55EB11-C993-A38B-F094-D72AD18265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6278B-F5B0-47A0-B9DD-0469F8902980}" type="slidenum">
              <a:rPr lang="en-US" smtClean="0"/>
              <a:t>‹#›</a:t>
            </a:fld>
            <a:endParaRPr lang="en-US"/>
          </a:p>
        </p:txBody>
      </p:sp>
    </p:spTree>
    <p:extLst>
      <p:ext uri="{BB962C8B-B14F-4D97-AF65-F5344CB8AC3E}">
        <p14:creationId xmlns:p14="http://schemas.microsoft.com/office/powerpoint/2010/main" val="4057662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7E6A-D5CC-471B-838A-02998ED9DC03}"/>
              </a:ext>
            </a:extLst>
          </p:cNvPr>
          <p:cNvSpPr>
            <a:spLocks noGrp="1"/>
          </p:cNvSpPr>
          <p:nvPr>
            <p:ph type="ctrTitle"/>
          </p:nvPr>
        </p:nvSpPr>
        <p:spPr>
          <a:xfrm>
            <a:off x="0" y="-1204303"/>
            <a:ext cx="12191999" cy="2387600"/>
          </a:xfrm>
        </p:spPr>
        <p:txBody>
          <a:bodyPr>
            <a:normAutofit/>
          </a:bodyPr>
          <a:lstStyle/>
          <a:p>
            <a:r>
              <a:rPr lang="en-US" sz="5400" b="1" dirty="0">
                <a:latin typeface="Cambria" panose="02040503050406030204" pitchFamily="18" charset="0"/>
                <a:ea typeface="Cambria" panose="02040503050406030204" pitchFamily="18" charset="0"/>
              </a:rPr>
              <a:t>Kinematics and Dynamics</a:t>
            </a:r>
          </a:p>
        </p:txBody>
      </p:sp>
      <p:sp>
        <p:nvSpPr>
          <p:cNvPr id="3" name="Subtitle 2">
            <a:extLst>
              <a:ext uri="{FF2B5EF4-FFF2-40B4-BE49-F238E27FC236}">
                <a16:creationId xmlns:a16="http://schemas.microsoft.com/office/drawing/2014/main" id="{A41003BA-200C-FCAE-BC8F-E59B8D1DDF6C}"/>
              </a:ext>
            </a:extLst>
          </p:cNvPr>
          <p:cNvSpPr>
            <a:spLocks noGrp="1"/>
          </p:cNvSpPr>
          <p:nvPr>
            <p:ph type="subTitle" idx="1"/>
          </p:nvPr>
        </p:nvSpPr>
        <p:spPr>
          <a:xfrm>
            <a:off x="-1" y="1183297"/>
            <a:ext cx="12191999" cy="1655762"/>
          </a:xfrm>
        </p:spPr>
        <p:txBody>
          <a:bodyPr>
            <a:normAutofit/>
          </a:bodyPr>
          <a:lstStyle/>
          <a:p>
            <a:r>
              <a:rPr lang="en-US" sz="3600" dirty="0">
                <a:latin typeface="Cambria" panose="02040503050406030204" pitchFamily="18" charset="0"/>
                <a:ea typeface="Cambria" panose="02040503050406030204" pitchFamily="18" charset="0"/>
              </a:rPr>
              <a:t>Day 05 </a:t>
            </a:r>
            <a:r>
              <a:rPr lang="en-US" sz="3600" dirty="0">
                <a:latin typeface="+mj-lt"/>
                <a:ea typeface="Cambria" panose="02040503050406030204" pitchFamily="18" charset="0"/>
              </a:rPr>
              <a:t>| </a:t>
            </a:r>
            <a:r>
              <a:rPr lang="en-US" sz="3600" dirty="0">
                <a:latin typeface="Cambria" panose="02040503050406030204" pitchFamily="18" charset="0"/>
                <a:ea typeface="Cambria" panose="02040503050406030204" pitchFamily="18" charset="0"/>
              </a:rPr>
              <a:t>MP 3010</a:t>
            </a:r>
          </a:p>
        </p:txBody>
      </p:sp>
      <p:sp>
        <p:nvSpPr>
          <p:cNvPr id="6" name="Slide Number Placeholder 5">
            <a:extLst>
              <a:ext uri="{FF2B5EF4-FFF2-40B4-BE49-F238E27FC236}">
                <a16:creationId xmlns:a16="http://schemas.microsoft.com/office/drawing/2014/main" id="{02328DD6-9543-F880-6AD8-6C9F826B5877}"/>
              </a:ext>
            </a:extLst>
          </p:cNvPr>
          <p:cNvSpPr>
            <a:spLocks noGrp="1"/>
          </p:cNvSpPr>
          <p:nvPr>
            <p:ph type="sldNum" sz="quarter" idx="12"/>
          </p:nvPr>
        </p:nvSpPr>
        <p:spPr/>
        <p:txBody>
          <a:bodyPr/>
          <a:lstStyle/>
          <a:p>
            <a:fld id="{80D56C2C-1F92-42C3-8C73-4DF80B934846}" type="slidenum">
              <a:rPr lang="en-US" smtClean="0"/>
              <a:t>1</a:t>
            </a:fld>
            <a:endParaRPr lang="en-US"/>
          </a:p>
        </p:txBody>
      </p:sp>
      <p:sp>
        <p:nvSpPr>
          <p:cNvPr id="7" name="TextBox 6">
            <a:extLst>
              <a:ext uri="{FF2B5EF4-FFF2-40B4-BE49-F238E27FC236}">
                <a16:creationId xmlns:a16="http://schemas.microsoft.com/office/drawing/2014/main" id="{9893E0D6-01EF-7A7C-00D7-01A0EB46B5DF}"/>
              </a:ext>
            </a:extLst>
          </p:cNvPr>
          <p:cNvSpPr txBox="1"/>
          <p:nvPr/>
        </p:nvSpPr>
        <p:spPr>
          <a:xfrm>
            <a:off x="3047999" y="5792154"/>
            <a:ext cx="6096000" cy="830997"/>
          </a:xfrm>
          <a:prstGeom prst="rect">
            <a:avLst/>
          </a:prstGeom>
          <a:noFill/>
        </p:spPr>
        <p:txBody>
          <a:bodyPr wrap="square">
            <a:spAutoFit/>
          </a:bodyPr>
          <a:lstStyle/>
          <a:p>
            <a:pPr algn="ctr"/>
            <a:r>
              <a:rPr lang="en-US" sz="2400" b="1" i="1" dirty="0">
                <a:latin typeface="Cambria" panose="02040503050406030204" pitchFamily="18" charset="0"/>
                <a:ea typeface="Cambria" panose="02040503050406030204" pitchFamily="18" charset="0"/>
              </a:rPr>
              <a:t>Cam and Follower</a:t>
            </a:r>
          </a:p>
          <a:p>
            <a:pPr algn="ctr"/>
            <a:r>
              <a:rPr lang="en-US" sz="2400" b="1" i="1" dirty="0">
                <a:latin typeface="Cambria" panose="02040503050406030204" pitchFamily="18" charset="0"/>
                <a:ea typeface="Cambria" panose="02040503050406030204" pitchFamily="18" charset="0"/>
              </a:rPr>
              <a:t>Development of Cam Profile</a:t>
            </a:r>
          </a:p>
        </p:txBody>
      </p:sp>
      <p:pic>
        <p:nvPicPr>
          <p:cNvPr id="4" name="Picture 2" descr="Wood Performance WM8-777 Chain Drive Camshaft">
            <a:extLst>
              <a:ext uri="{FF2B5EF4-FFF2-40B4-BE49-F238E27FC236}">
                <a16:creationId xmlns:a16="http://schemas.microsoft.com/office/drawing/2014/main" id="{6632227D-7285-F67A-DE48-51AABCE40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7771" y="1481075"/>
            <a:ext cx="5336458" cy="4632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053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19CAC-D933-D253-6CC0-53FF06E40206}"/>
              </a:ext>
            </a:extLst>
          </p:cNvPr>
          <p:cNvSpPr>
            <a:spLocks noGrp="1"/>
          </p:cNvSpPr>
          <p:nvPr>
            <p:ph type="title"/>
          </p:nvPr>
        </p:nvSpPr>
        <p:spPr/>
        <p:txBody>
          <a:bodyPr/>
          <a:lstStyle/>
          <a:p>
            <a:r>
              <a:rPr lang="en-US" dirty="0"/>
              <a:t>Cams</a:t>
            </a:r>
          </a:p>
        </p:txBody>
      </p:sp>
      <p:sp>
        <p:nvSpPr>
          <p:cNvPr id="3" name="Text Placeholder 2">
            <a:extLst>
              <a:ext uri="{FF2B5EF4-FFF2-40B4-BE49-F238E27FC236}">
                <a16:creationId xmlns:a16="http://schemas.microsoft.com/office/drawing/2014/main" id="{B0EE3145-3BA2-06B7-21A9-4003D89ACFB1}"/>
              </a:ext>
            </a:extLst>
          </p:cNvPr>
          <p:cNvSpPr>
            <a:spLocks noGrp="1"/>
          </p:cNvSpPr>
          <p:nvPr>
            <p:ph type="body" idx="1"/>
          </p:nvPr>
        </p:nvSpPr>
        <p:spPr>
          <a:xfrm>
            <a:off x="949837" y="4572615"/>
            <a:ext cx="10515600" cy="1500187"/>
          </a:xfrm>
        </p:spPr>
        <p:txBody>
          <a:bodyPr/>
          <a:lstStyle/>
          <a:p>
            <a:r>
              <a:rPr lang="en-US" dirty="0"/>
              <a:t>Section 1</a:t>
            </a:r>
          </a:p>
        </p:txBody>
      </p:sp>
      <p:pic>
        <p:nvPicPr>
          <p:cNvPr id="2050" name="Picture 2" descr="51528 - Holden V8 304/355 Hydraulic Roller Cam">
            <a:extLst>
              <a:ext uri="{FF2B5EF4-FFF2-40B4-BE49-F238E27FC236}">
                <a16:creationId xmlns:a16="http://schemas.microsoft.com/office/drawing/2014/main" id="{2EAE4ABE-9C83-1229-2EFF-E48733903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7240" y="104775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65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E268B-EF9C-5DE3-AD33-1ACA5AA2B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3F67A-A259-1676-092D-1C97AA773454}"/>
              </a:ext>
            </a:extLst>
          </p:cNvPr>
          <p:cNvSpPr>
            <a:spLocks noGrp="1"/>
          </p:cNvSpPr>
          <p:nvPr>
            <p:ph type="title"/>
          </p:nvPr>
        </p:nvSpPr>
        <p:spPr/>
        <p:txBody>
          <a:bodyPr/>
          <a:lstStyle/>
          <a:p>
            <a:r>
              <a:rPr lang="en-US" dirty="0"/>
              <a:t>Classification of Cams</a:t>
            </a:r>
          </a:p>
        </p:txBody>
      </p:sp>
      <p:pic>
        <p:nvPicPr>
          <p:cNvPr id="4" name="Picture 3">
            <a:extLst>
              <a:ext uri="{FF2B5EF4-FFF2-40B4-BE49-F238E27FC236}">
                <a16:creationId xmlns:a16="http://schemas.microsoft.com/office/drawing/2014/main" id="{4EF48D01-5307-2B2B-CA9C-00875F348B4D}"/>
              </a:ext>
            </a:extLst>
          </p:cNvPr>
          <p:cNvPicPr>
            <a:picLocks noChangeAspect="1"/>
          </p:cNvPicPr>
          <p:nvPr/>
        </p:nvPicPr>
        <p:blipFill>
          <a:blip r:embed="rId2"/>
          <a:stretch>
            <a:fillRect/>
          </a:stretch>
        </p:blipFill>
        <p:spPr>
          <a:xfrm>
            <a:off x="4017170" y="2038156"/>
            <a:ext cx="7697274" cy="2781688"/>
          </a:xfrm>
          <a:prstGeom prst="rect">
            <a:avLst/>
          </a:prstGeom>
        </p:spPr>
      </p:pic>
      <p:pic>
        <p:nvPicPr>
          <p:cNvPr id="5" name="Picture 4">
            <a:extLst>
              <a:ext uri="{FF2B5EF4-FFF2-40B4-BE49-F238E27FC236}">
                <a16:creationId xmlns:a16="http://schemas.microsoft.com/office/drawing/2014/main" id="{D48B52A3-41A0-0444-680A-B488FA64F270}"/>
              </a:ext>
            </a:extLst>
          </p:cNvPr>
          <p:cNvPicPr>
            <a:picLocks noChangeAspect="1"/>
          </p:cNvPicPr>
          <p:nvPr/>
        </p:nvPicPr>
        <p:blipFill>
          <a:blip r:embed="rId3"/>
          <a:stretch>
            <a:fillRect/>
          </a:stretch>
        </p:blipFill>
        <p:spPr>
          <a:xfrm>
            <a:off x="993058" y="2347406"/>
            <a:ext cx="2315607" cy="2163188"/>
          </a:xfrm>
          <a:prstGeom prst="rect">
            <a:avLst/>
          </a:prstGeom>
        </p:spPr>
      </p:pic>
    </p:spTree>
    <p:extLst>
      <p:ext uri="{BB962C8B-B14F-4D97-AF65-F5344CB8AC3E}">
        <p14:creationId xmlns:p14="http://schemas.microsoft.com/office/powerpoint/2010/main" val="3337825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C58B-6865-1025-A38F-C7DB19E07822}"/>
              </a:ext>
            </a:extLst>
          </p:cNvPr>
          <p:cNvSpPr>
            <a:spLocks noGrp="1"/>
          </p:cNvSpPr>
          <p:nvPr>
            <p:ph type="title"/>
          </p:nvPr>
        </p:nvSpPr>
        <p:spPr/>
        <p:txBody>
          <a:bodyPr/>
          <a:lstStyle/>
          <a:p>
            <a:r>
              <a:rPr lang="en-US" dirty="0"/>
              <a:t>Terms</a:t>
            </a:r>
          </a:p>
        </p:txBody>
      </p:sp>
      <p:pic>
        <p:nvPicPr>
          <p:cNvPr id="6" name="Picture 5">
            <a:extLst>
              <a:ext uri="{FF2B5EF4-FFF2-40B4-BE49-F238E27FC236}">
                <a16:creationId xmlns:a16="http://schemas.microsoft.com/office/drawing/2014/main" id="{2ABC1AEA-B0CD-CCF0-425A-9510A66D3705}"/>
              </a:ext>
            </a:extLst>
          </p:cNvPr>
          <p:cNvPicPr>
            <a:picLocks noChangeAspect="1"/>
          </p:cNvPicPr>
          <p:nvPr/>
        </p:nvPicPr>
        <p:blipFill>
          <a:blip r:embed="rId2"/>
          <a:stretch>
            <a:fillRect/>
          </a:stretch>
        </p:blipFill>
        <p:spPr>
          <a:xfrm>
            <a:off x="2590164" y="1027906"/>
            <a:ext cx="6329626" cy="5167312"/>
          </a:xfrm>
          <a:prstGeom prst="rect">
            <a:avLst/>
          </a:prstGeom>
        </p:spPr>
      </p:pic>
    </p:spTree>
    <p:extLst>
      <p:ext uri="{BB962C8B-B14F-4D97-AF65-F5344CB8AC3E}">
        <p14:creationId xmlns:p14="http://schemas.microsoft.com/office/powerpoint/2010/main" val="269206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47839"/>
            <a:ext cx="10515600" cy="960135"/>
          </a:xfrm>
          <a:prstGeom prst="rect">
            <a:avLst/>
          </a:prstGeom>
        </p:spPr>
        <p:txBody>
          <a:bodyPr vert="horz" wrap="square" lIns="0" tIns="73025" rIns="0" bIns="0" rtlCol="0">
            <a:spAutoFit/>
          </a:bodyPr>
          <a:lstStyle/>
          <a:p>
            <a:pPr marL="12700" marR="5080">
              <a:lnSpc>
                <a:spcPct val="90000"/>
              </a:lnSpc>
              <a:spcBef>
                <a:spcPts val="575"/>
              </a:spcBef>
            </a:pPr>
            <a:r>
              <a:rPr sz="3200" b="1" spc="-10" dirty="0">
                <a:latin typeface="+mn-lt"/>
              </a:rPr>
              <a:t>Displacement,</a:t>
            </a:r>
            <a:r>
              <a:rPr sz="3200" b="1" spc="-120" dirty="0">
                <a:latin typeface="+mn-lt"/>
              </a:rPr>
              <a:t> </a:t>
            </a:r>
            <a:r>
              <a:rPr sz="3200" b="1" spc="-20" dirty="0">
                <a:latin typeface="+mn-lt"/>
              </a:rPr>
              <a:t>Velocity</a:t>
            </a:r>
            <a:r>
              <a:rPr sz="3200" b="1" spc="-120" dirty="0">
                <a:latin typeface="+mn-lt"/>
              </a:rPr>
              <a:t> </a:t>
            </a:r>
            <a:r>
              <a:rPr sz="3200" b="1" dirty="0">
                <a:latin typeface="+mn-lt"/>
              </a:rPr>
              <a:t>and</a:t>
            </a:r>
            <a:r>
              <a:rPr sz="3200" b="1" spc="-100" dirty="0">
                <a:latin typeface="+mn-lt"/>
              </a:rPr>
              <a:t> </a:t>
            </a:r>
            <a:r>
              <a:rPr sz="3200" b="1" spc="-10" dirty="0">
                <a:latin typeface="+mn-lt"/>
              </a:rPr>
              <a:t>Acceleration</a:t>
            </a:r>
            <a:r>
              <a:rPr sz="3200" b="1" spc="-140" dirty="0">
                <a:latin typeface="+mn-lt"/>
              </a:rPr>
              <a:t> </a:t>
            </a:r>
            <a:r>
              <a:rPr sz="3200" b="1" spc="-10" dirty="0">
                <a:latin typeface="+mn-lt"/>
              </a:rPr>
              <a:t>Diagrams </a:t>
            </a:r>
            <a:r>
              <a:rPr sz="3200" b="1" dirty="0">
                <a:latin typeface="+mn-lt"/>
              </a:rPr>
              <a:t>when</a:t>
            </a:r>
            <a:r>
              <a:rPr sz="3200" b="1" spc="-105" dirty="0">
                <a:latin typeface="+mn-lt"/>
              </a:rPr>
              <a:t> </a:t>
            </a:r>
            <a:r>
              <a:rPr sz="3200" b="1" dirty="0">
                <a:latin typeface="+mn-lt"/>
              </a:rPr>
              <a:t>the</a:t>
            </a:r>
            <a:r>
              <a:rPr sz="3200" b="1" spc="-105" dirty="0">
                <a:latin typeface="+mn-lt"/>
              </a:rPr>
              <a:t> </a:t>
            </a:r>
            <a:r>
              <a:rPr sz="3200" b="1" dirty="0">
                <a:latin typeface="+mn-lt"/>
              </a:rPr>
              <a:t>Follower</a:t>
            </a:r>
            <a:r>
              <a:rPr sz="3200" b="1" spc="-110" dirty="0">
                <a:latin typeface="+mn-lt"/>
              </a:rPr>
              <a:t> </a:t>
            </a:r>
            <a:r>
              <a:rPr sz="3200" b="1" dirty="0">
                <a:latin typeface="+mn-lt"/>
              </a:rPr>
              <a:t>Moves</a:t>
            </a:r>
            <a:r>
              <a:rPr sz="3200" b="1" spc="-100" dirty="0">
                <a:latin typeface="+mn-lt"/>
              </a:rPr>
              <a:t> </a:t>
            </a:r>
            <a:r>
              <a:rPr sz="3200" b="1" dirty="0">
                <a:latin typeface="+mn-lt"/>
              </a:rPr>
              <a:t>with</a:t>
            </a:r>
            <a:r>
              <a:rPr sz="3200" b="1" spc="-100" dirty="0">
                <a:latin typeface="+mn-lt"/>
              </a:rPr>
              <a:t> </a:t>
            </a:r>
            <a:r>
              <a:rPr sz="3200" b="1" spc="-10" dirty="0">
                <a:latin typeface="+mn-lt"/>
              </a:rPr>
              <a:t>Uniform Acceleration</a:t>
            </a:r>
            <a:r>
              <a:rPr sz="3200" b="1" spc="-130" dirty="0">
                <a:latin typeface="+mn-lt"/>
              </a:rPr>
              <a:t> </a:t>
            </a:r>
            <a:r>
              <a:rPr sz="3200" b="1" dirty="0">
                <a:latin typeface="+mn-lt"/>
              </a:rPr>
              <a:t>and</a:t>
            </a:r>
            <a:r>
              <a:rPr sz="3200" b="1" spc="-95" dirty="0">
                <a:latin typeface="+mn-lt"/>
              </a:rPr>
              <a:t> </a:t>
            </a:r>
            <a:r>
              <a:rPr sz="3200" b="1" spc="-10" dirty="0">
                <a:latin typeface="+mn-lt"/>
              </a:rPr>
              <a:t>Retardation</a:t>
            </a:r>
            <a:endParaRPr sz="3200" b="1" dirty="0">
              <a:latin typeface="+mn-lt"/>
            </a:endParaRPr>
          </a:p>
        </p:txBody>
      </p:sp>
      <p:pic>
        <p:nvPicPr>
          <p:cNvPr id="5" name="Picture 4">
            <a:extLst>
              <a:ext uri="{FF2B5EF4-FFF2-40B4-BE49-F238E27FC236}">
                <a16:creationId xmlns:a16="http://schemas.microsoft.com/office/drawing/2014/main" id="{8DEDF5BA-9CD1-17E3-4F66-44167CFA3940}"/>
              </a:ext>
            </a:extLst>
          </p:cNvPr>
          <p:cNvPicPr>
            <a:picLocks noChangeAspect="1"/>
          </p:cNvPicPr>
          <p:nvPr/>
        </p:nvPicPr>
        <p:blipFill>
          <a:blip r:embed="rId2"/>
          <a:stretch>
            <a:fillRect/>
          </a:stretch>
        </p:blipFill>
        <p:spPr>
          <a:xfrm>
            <a:off x="505858" y="2130228"/>
            <a:ext cx="5973600" cy="3800919"/>
          </a:xfrm>
          <a:prstGeom prst="rect">
            <a:avLst/>
          </a:prstGeom>
        </p:spPr>
      </p:pic>
      <p:pic>
        <p:nvPicPr>
          <p:cNvPr id="7" name="Picture 6">
            <a:extLst>
              <a:ext uri="{FF2B5EF4-FFF2-40B4-BE49-F238E27FC236}">
                <a16:creationId xmlns:a16="http://schemas.microsoft.com/office/drawing/2014/main" id="{77C742DB-EF92-CC3E-9738-86E65873FAA1}"/>
              </a:ext>
            </a:extLst>
          </p:cNvPr>
          <p:cNvPicPr>
            <a:picLocks noChangeAspect="1"/>
          </p:cNvPicPr>
          <p:nvPr/>
        </p:nvPicPr>
        <p:blipFill>
          <a:blip r:embed="rId3"/>
          <a:stretch>
            <a:fillRect/>
          </a:stretch>
        </p:blipFill>
        <p:spPr>
          <a:xfrm>
            <a:off x="6633723" y="2316187"/>
            <a:ext cx="4845942" cy="3429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089856" y="1286635"/>
            <a:ext cx="6602349" cy="5571360"/>
          </a:xfrm>
          <a:prstGeom prst="rect">
            <a:avLst/>
          </a:prstGeom>
        </p:spPr>
      </p:pic>
      <p:sp>
        <p:nvSpPr>
          <p:cNvPr id="2" name="object 2"/>
          <p:cNvSpPr txBox="1">
            <a:spLocks noGrp="1"/>
          </p:cNvSpPr>
          <p:nvPr>
            <p:ph type="title"/>
          </p:nvPr>
        </p:nvSpPr>
        <p:spPr>
          <a:xfrm>
            <a:off x="838200" y="492439"/>
            <a:ext cx="10734368" cy="1070934"/>
          </a:xfrm>
          <a:prstGeom prst="rect">
            <a:avLst/>
          </a:prstGeom>
        </p:spPr>
        <p:txBody>
          <a:bodyPr vert="horz" wrap="square" lIns="0" tIns="73025" rIns="0" bIns="0" rtlCol="0">
            <a:spAutoFit/>
          </a:bodyPr>
          <a:lstStyle/>
          <a:p>
            <a:pPr marL="12700" marR="5080">
              <a:lnSpc>
                <a:spcPct val="90000"/>
              </a:lnSpc>
              <a:spcBef>
                <a:spcPts val="575"/>
              </a:spcBef>
            </a:pPr>
            <a:r>
              <a:rPr sz="3600" b="1" spc="-10" dirty="0">
                <a:latin typeface="+mn-lt"/>
              </a:rPr>
              <a:t>Displacement,</a:t>
            </a:r>
            <a:r>
              <a:rPr sz="3600" b="1" spc="-120" dirty="0">
                <a:latin typeface="+mn-lt"/>
              </a:rPr>
              <a:t> </a:t>
            </a:r>
            <a:r>
              <a:rPr sz="3600" b="1" spc="-20" dirty="0">
                <a:latin typeface="+mn-lt"/>
              </a:rPr>
              <a:t>Velocity</a:t>
            </a:r>
            <a:r>
              <a:rPr sz="3600" b="1" spc="-120" dirty="0">
                <a:latin typeface="+mn-lt"/>
              </a:rPr>
              <a:t> </a:t>
            </a:r>
            <a:r>
              <a:rPr sz="3600" b="1" dirty="0">
                <a:latin typeface="+mn-lt"/>
              </a:rPr>
              <a:t>and</a:t>
            </a:r>
            <a:r>
              <a:rPr sz="3600" b="1" spc="-100" dirty="0">
                <a:latin typeface="+mn-lt"/>
              </a:rPr>
              <a:t> </a:t>
            </a:r>
            <a:r>
              <a:rPr sz="3600" b="1" spc="-10" dirty="0">
                <a:latin typeface="+mn-lt"/>
              </a:rPr>
              <a:t>Acceleration</a:t>
            </a:r>
            <a:r>
              <a:rPr sz="3600" b="1" spc="-140" dirty="0">
                <a:latin typeface="+mn-lt"/>
              </a:rPr>
              <a:t> </a:t>
            </a:r>
            <a:r>
              <a:rPr sz="3600" b="1" spc="-10" dirty="0">
                <a:latin typeface="+mn-lt"/>
              </a:rPr>
              <a:t>Diagrams </a:t>
            </a:r>
            <a:r>
              <a:rPr sz="3600" b="1" dirty="0">
                <a:latin typeface="+mn-lt"/>
              </a:rPr>
              <a:t>when</a:t>
            </a:r>
            <a:r>
              <a:rPr sz="3600" b="1" spc="-105" dirty="0">
                <a:latin typeface="+mn-lt"/>
              </a:rPr>
              <a:t> </a:t>
            </a:r>
            <a:r>
              <a:rPr sz="3600" b="1" dirty="0">
                <a:latin typeface="+mn-lt"/>
              </a:rPr>
              <a:t>the</a:t>
            </a:r>
            <a:r>
              <a:rPr sz="3600" b="1" spc="-110" dirty="0">
                <a:latin typeface="+mn-lt"/>
              </a:rPr>
              <a:t> </a:t>
            </a:r>
            <a:r>
              <a:rPr sz="3600" b="1" dirty="0">
                <a:latin typeface="+mn-lt"/>
              </a:rPr>
              <a:t>Follower</a:t>
            </a:r>
            <a:r>
              <a:rPr sz="3600" b="1" spc="-110" dirty="0">
                <a:latin typeface="+mn-lt"/>
              </a:rPr>
              <a:t> </a:t>
            </a:r>
            <a:r>
              <a:rPr sz="3600" b="1" dirty="0">
                <a:latin typeface="+mn-lt"/>
              </a:rPr>
              <a:t>Moves</a:t>
            </a:r>
            <a:r>
              <a:rPr sz="3600" b="1" spc="-100" dirty="0">
                <a:latin typeface="+mn-lt"/>
              </a:rPr>
              <a:t> </a:t>
            </a:r>
            <a:r>
              <a:rPr sz="3600" b="1" dirty="0">
                <a:latin typeface="+mn-lt"/>
              </a:rPr>
              <a:t>with</a:t>
            </a:r>
            <a:r>
              <a:rPr sz="3600" b="1" spc="-105" dirty="0">
                <a:latin typeface="+mn-lt"/>
              </a:rPr>
              <a:t> </a:t>
            </a:r>
            <a:r>
              <a:rPr sz="3600" b="1" dirty="0">
                <a:latin typeface="+mn-lt"/>
              </a:rPr>
              <a:t>Simple</a:t>
            </a:r>
            <a:r>
              <a:rPr sz="3600" b="1" spc="-110" dirty="0">
                <a:latin typeface="+mn-lt"/>
              </a:rPr>
              <a:t> </a:t>
            </a:r>
            <a:r>
              <a:rPr sz="3600" b="1" spc="-10" dirty="0">
                <a:latin typeface="+mn-lt"/>
              </a:rPr>
              <a:t>Harmonic Motion</a:t>
            </a:r>
            <a:endParaRPr sz="3600" b="1"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2A13-FF50-C4A9-E8AE-1D72BB669DD8}"/>
              </a:ext>
            </a:extLst>
          </p:cNvPr>
          <p:cNvSpPr>
            <a:spLocks noGrp="1"/>
          </p:cNvSpPr>
          <p:nvPr>
            <p:ph type="title"/>
          </p:nvPr>
        </p:nvSpPr>
        <p:spPr/>
        <p:txBody>
          <a:bodyPr/>
          <a:lstStyle/>
          <a:p>
            <a:r>
              <a:rPr lang="en-US" b="1" dirty="0">
                <a:latin typeface="+mn-lt"/>
              </a:rPr>
              <a:t>Analysis of cam and follower motion</a:t>
            </a:r>
          </a:p>
        </p:txBody>
      </p:sp>
      <p:pic>
        <p:nvPicPr>
          <p:cNvPr id="6" name="Picture 5">
            <a:extLst>
              <a:ext uri="{FF2B5EF4-FFF2-40B4-BE49-F238E27FC236}">
                <a16:creationId xmlns:a16="http://schemas.microsoft.com/office/drawing/2014/main" id="{82EF3B90-47C1-6633-EC5D-49E7FEE6C7EF}"/>
              </a:ext>
            </a:extLst>
          </p:cNvPr>
          <p:cNvPicPr>
            <a:picLocks noChangeAspect="1"/>
          </p:cNvPicPr>
          <p:nvPr/>
        </p:nvPicPr>
        <p:blipFill>
          <a:blip r:embed="rId2"/>
          <a:stretch>
            <a:fillRect/>
          </a:stretch>
        </p:blipFill>
        <p:spPr>
          <a:xfrm>
            <a:off x="7084404" y="3077037"/>
            <a:ext cx="4528265" cy="3186557"/>
          </a:xfrm>
          <a:prstGeom prst="rect">
            <a:avLst/>
          </a:prstGeom>
        </p:spPr>
      </p:pic>
      <p:sp>
        <p:nvSpPr>
          <p:cNvPr id="8" name="TextBox 7">
            <a:extLst>
              <a:ext uri="{FF2B5EF4-FFF2-40B4-BE49-F238E27FC236}">
                <a16:creationId xmlns:a16="http://schemas.microsoft.com/office/drawing/2014/main" id="{896E3F55-B924-E0C4-2A32-093E29BF1EB2}"/>
              </a:ext>
            </a:extLst>
          </p:cNvPr>
          <p:cNvSpPr txBox="1"/>
          <p:nvPr/>
        </p:nvSpPr>
        <p:spPr>
          <a:xfrm>
            <a:off x="838200" y="1410271"/>
            <a:ext cx="10665542" cy="1947184"/>
          </a:xfrm>
          <a:prstGeom prst="rect">
            <a:avLst/>
          </a:prstGeom>
          <a:noFill/>
        </p:spPr>
        <p:txBody>
          <a:bodyPr wrap="square">
            <a:spAutoFit/>
          </a:bodyPr>
          <a:lstStyle/>
          <a:p>
            <a:pPr algn="just"/>
            <a:r>
              <a:rPr lang="en-US" sz="2400" i="1" dirty="0"/>
              <a:t>Let </a:t>
            </a:r>
          </a:p>
          <a:p>
            <a:pPr algn="just"/>
            <a:r>
              <a:rPr lang="en-US" sz="2400" i="1" dirty="0"/>
              <a:t>S = Stroke of the follower, </a:t>
            </a:r>
          </a:p>
          <a:p>
            <a:pPr algn="just"/>
            <a:r>
              <a:rPr lang="en-US" sz="2400" dirty="0" err="1"/>
              <a:t>θ</a:t>
            </a:r>
            <a:r>
              <a:rPr lang="en-US" sz="2400" i="1" baseline="-25000" dirty="0" err="1"/>
              <a:t>O</a:t>
            </a:r>
            <a:r>
              <a:rPr lang="en-US" sz="2400" i="1" dirty="0"/>
              <a:t> and </a:t>
            </a:r>
            <a:r>
              <a:rPr lang="en-US" sz="2400" i="1" dirty="0" err="1"/>
              <a:t>R</a:t>
            </a:r>
            <a:r>
              <a:rPr lang="en-US" sz="2400" baseline="-25000" dirty="0" err="1"/>
              <a:t>θ</a:t>
            </a:r>
            <a:r>
              <a:rPr lang="en-US" sz="2400" i="1" dirty="0"/>
              <a:t> = Angular displacement of the cam during out stroke and return stroke of the follower respectively, in radians, and </a:t>
            </a:r>
          </a:p>
          <a:p>
            <a:pPr algn="just"/>
            <a:r>
              <a:rPr lang="en-US" sz="2400" i="1" dirty="0"/>
              <a:t>ω = Angular velocity of the cam in rad/s. </a:t>
            </a:r>
          </a:p>
        </p:txBody>
      </p:sp>
      <p:pic>
        <p:nvPicPr>
          <p:cNvPr id="10" name="Picture 9">
            <a:extLst>
              <a:ext uri="{FF2B5EF4-FFF2-40B4-BE49-F238E27FC236}">
                <a16:creationId xmlns:a16="http://schemas.microsoft.com/office/drawing/2014/main" id="{BA186332-3E7D-1BCE-22E5-D9A8FD2C0ABD}"/>
              </a:ext>
            </a:extLst>
          </p:cNvPr>
          <p:cNvPicPr>
            <a:picLocks noChangeAspect="1"/>
          </p:cNvPicPr>
          <p:nvPr/>
        </p:nvPicPr>
        <p:blipFill>
          <a:blip r:embed="rId3"/>
          <a:stretch>
            <a:fillRect/>
          </a:stretch>
        </p:blipFill>
        <p:spPr>
          <a:xfrm>
            <a:off x="838200" y="3982721"/>
            <a:ext cx="6148902" cy="761084"/>
          </a:xfrm>
          <a:prstGeom prst="rect">
            <a:avLst/>
          </a:prstGeom>
          <a:ln>
            <a:solidFill>
              <a:schemeClr val="tx1"/>
            </a:solidFill>
          </a:ln>
        </p:spPr>
      </p:pic>
    </p:spTree>
    <p:extLst>
      <p:ext uri="{BB962C8B-B14F-4D97-AF65-F5344CB8AC3E}">
        <p14:creationId xmlns:p14="http://schemas.microsoft.com/office/powerpoint/2010/main" val="281333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93AF-4866-08ED-F846-079F9522B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29FA9-D433-54E1-E5A5-A8B622BB9AAE}"/>
              </a:ext>
            </a:extLst>
          </p:cNvPr>
          <p:cNvSpPr>
            <a:spLocks noGrp="1"/>
          </p:cNvSpPr>
          <p:nvPr>
            <p:ph type="title"/>
          </p:nvPr>
        </p:nvSpPr>
        <p:spPr/>
        <p:txBody>
          <a:bodyPr/>
          <a:lstStyle/>
          <a:p>
            <a:r>
              <a:rPr lang="en-US" dirty="0"/>
              <a:t>Peripheral Speed</a:t>
            </a:r>
          </a:p>
        </p:txBody>
      </p:sp>
      <p:pic>
        <p:nvPicPr>
          <p:cNvPr id="4" name="Picture 3">
            <a:extLst>
              <a:ext uri="{FF2B5EF4-FFF2-40B4-BE49-F238E27FC236}">
                <a16:creationId xmlns:a16="http://schemas.microsoft.com/office/drawing/2014/main" id="{4CC6D760-EBC1-0B08-42D0-BFF24CC27BF4}"/>
              </a:ext>
            </a:extLst>
          </p:cNvPr>
          <p:cNvPicPr>
            <a:picLocks noChangeAspect="1"/>
          </p:cNvPicPr>
          <p:nvPr/>
        </p:nvPicPr>
        <p:blipFill>
          <a:blip r:embed="rId2"/>
          <a:stretch>
            <a:fillRect/>
          </a:stretch>
        </p:blipFill>
        <p:spPr>
          <a:xfrm>
            <a:off x="838200" y="2595446"/>
            <a:ext cx="6077798" cy="1667108"/>
          </a:xfrm>
          <a:prstGeom prst="rect">
            <a:avLst/>
          </a:prstGeom>
          <a:ln>
            <a:solidFill>
              <a:schemeClr val="tx1"/>
            </a:solidFill>
          </a:ln>
        </p:spPr>
      </p:pic>
      <p:pic>
        <p:nvPicPr>
          <p:cNvPr id="6" name="Picture 5">
            <a:extLst>
              <a:ext uri="{FF2B5EF4-FFF2-40B4-BE49-F238E27FC236}">
                <a16:creationId xmlns:a16="http://schemas.microsoft.com/office/drawing/2014/main" id="{A13DA025-B22F-AE3E-C3AE-32B797723215}"/>
              </a:ext>
            </a:extLst>
          </p:cNvPr>
          <p:cNvPicPr>
            <a:picLocks noChangeAspect="1"/>
          </p:cNvPicPr>
          <p:nvPr/>
        </p:nvPicPr>
        <p:blipFill>
          <a:blip r:embed="rId3"/>
          <a:stretch>
            <a:fillRect/>
          </a:stretch>
        </p:blipFill>
        <p:spPr>
          <a:xfrm>
            <a:off x="7172895" y="1690688"/>
            <a:ext cx="4528265" cy="3186557"/>
          </a:xfrm>
          <a:prstGeom prst="rect">
            <a:avLst/>
          </a:prstGeom>
        </p:spPr>
      </p:pic>
    </p:spTree>
    <p:extLst>
      <p:ext uri="{BB962C8B-B14F-4D97-AF65-F5344CB8AC3E}">
        <p14:creationId xmlns:p14="http://schemas.microsoft.com/office/powerpoint/2010/main" val="137050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0892-2937-D712-703A-901E99691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17030-815B-2892-8D08-438F0AD3CF5B}"/>
              </a:ext>
            </a:extLst>
          </p:cNvPr>
          <p:cNvSpPr>
            <a:spLocks noGrp="1"/>
          </p:cNvSpPr>
          <p:nvPr>
            <p:ph type="title"/>
          </p:nvPr>
        </p:nvSpPr>
        <p:spPr/>
        <p:txBody>
          <a:bodyPr/>
          <a:lstStyle/>
          <a:p>
            <a:r>
              <a:rPr lang="en-US" dirty="0"/>
              <a:t>Centripetal acceleration of the point P</a:t>
            </a:r>
          </a:p>
        </p:txBody>
      </p:sp>
      <p:pic>
        <p:nvPicPr>
          <p:cNvPr id="6" name="Picture 5">
            <a:extLst>
              <a:ext uri="{FF2B5EF4-FFF2-40B4-BE49-F238E27FC236}">
                <a16:creationId xmlns:a16="http://schemas.microsoft.com/office/drawing/2014/main" id="{2858883D-8689-069A-7A85-37810702643E}"/>
              </a:ext>
            </a:extLst>
          </p:cNvPr>
          <p:cNvPicPr>
            <a:picLocks noChangeAspect="1"/>
          </p:cNvPicPr>
          <p:nvPr/>
        </p:nvPicPr>
        <p:blipFill>
          <a:blip r:embed="rId2"/>
          <a:stretch>
            <a:fillRect/>
          </a:stretch>
        </p:blipFill>
        <p:spPr>
          <a:xfrm>
            <a:off x="7172895" y="1690688"/>
            <a:ext cx="4528265" cy="3186557"/>
          </a:xfrm>
          <a:prstGeom prst="rect">
            <a:avLst/>
          </a:prstGeom>
        </p:spPr>
      </p:pic>
      <p:pic>
        <p:nvPicPr>
          <p:cNvPr id="4" name="Picture 3">
            <a:extLst>
              <a:ext uri="{FF2B5EF4-FFF2-40B4-BE49-F238E27FC236}">
                <a16:creationId xmlns:a16="http://schemas.microsoft.com/office/drawing/2014/main" id="{7674483C-4144-ACEA-0530-EF6E5693D1A4}"/>
              </a:ext>
            </a:extLst>
          </p:cNvPr>
          <p:cNvPicPr>
            <a:picLocks noChangeAspect="1"/>
          </p:cNvPicPr>
          <p:nvPr/>
        </p:nvPicPr>
        <p:blipFill>
          <a:blip r:embed="rId3"/>
          <a:stretch>
            <a:fillRect/>
          </a:stretch>
        </p:blipFill>
        <p:spPr>
          <a:xfrm>
            <a:off x="1270820" y="2814327"/>
            <a:ext cx="5700252" cy="1229346"/>
          </a:xfrm>
          <a:prstGeom prst="rect">
            <a:avLst/>
          </a:prstGeom>
          <a:ln>
            <a:solidFill>
              <a:schemeClr val="tx1"/>
            </a:solidFill>
          </a:ln>
        </p:spPr>
      </p:pic>
    </p:spTree>
    <p:extLst>
      <p:ext uri="{BB962C8B-B14F-4D97-AF65-F5344CB8AC3E}">
        <p14:creationId xmlns:p14="http://schemas.microsoft.com/office/powerpoint/2010/main" val="4229862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8729-325B-6E97-799A-4FA756DFE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F6695-D153-0382-4535-9421A64F3D45}"/>
              </a:ext>
            </a:extLst>
          </p:cNvPr>
          <p:cNvSpPr>
            <a:spLocks noGrp="1"/>
          </p:cNvSpPr>
          <p:nvPr>
            <p:ph type="title"/>
          </p:nvPr>
        </p:nvSpPr>
        <p:spPr/>
        <p:txBody>
          <a:bodyPr/>
          <a:lstStyle/>
          <a:p>
            <a:r>
              <a:rPr lang="en-US" dirty="0"/>
              <a:t>Maximum velocity and acceleration of the follower on the outstroke</a:t>
            </a:r>
          </a:p>
        </p:txBody>
      </p:sp>
      <p:pic>
        <p:nvPicPr>
          <p:cNvPr id="6" name="Picture 5">
            <a:extLst>
              <a:ext uri="{FF2B5EF4-FFF2-40B4-BE49-F238E27FC236}">
                <a16:creationId xmlns:a16="http://schemas.microsoft.com/office/drawing/2014/main" id="{8F7EF28C-E348-15E5-83A7-B78B291A5B7C}"/>
              </a:ext>
            </a:extLst>
          </p:cNvPr>
          <p:cNvPicPr>
            <a:picLocks noChangeAspect="1"/>
          </p:cNvPicPr>
          <p:nvPr/>
        </p:nvPicPr>
        <p:blipFill>
          <a:blip r:embed="rId2"/>
          <a:stretch>
            <a:fillRect/>
          </a:stretch>
        </p:blipFill>
        <p:spPr>
          <a:xfrm>
            <a:off x="7172895" y="1690688"/>
            <a:ext cx="4528265" cy="3186557"/>
          </a:xfrm>
          <a:prstGeom prst="rect">
            <a:avLst/>
          </a:prstGeom>
        </p:spPr>
      </p:pic>
      <p:pic>
        <p:nvPicPr>
          <p:cNvPr id="5" name="Picture 4">
            <a:extLst>
              <a:ext uri="{FF2B5EF4-FFF2-40B4-BE49-F238E27FC236}">
                <a16:creationId xmlns:a16="http://schemas.microsoft.com/office/drawing/2014/main" id="{E648A064-2C8B-6012-C01D-36CD930D5194}"/>
              </a:ext>
            </a:extLst>
          </p:cNvPr>
          <p:cNvPicPr>
            <a:picLocks noChangeAspect="1"/>
          </p:cNvPicPr>
          <p:nvPr/>
        </p:nvPicPr>
        <p:blipFill>
          <a:blip r:embed="rId3"/>
          <a:stretch>
            <a:fillRect/>
          </a:stretch>
        </p:blipFill>
        <p:spPr>
          <a:xfrm>
            <a:off x="1500505" y="2433498"/>
            <a:ext cx="4320191" cy="995502"/>
          </a:xfrm>
          <a:prstGeom prst="rect">
            <a:avLst/>
          </a:prstGeom>
          <a:ln>
            <a:solidFill>
              <a:schemeClr val="tx1"/>
            </a:solidFill>
          </a:ln>
        </p:spPr>
      </p:pic>
      <p:pic>
        <p:nvPicPr>
          <p:cNvPr id="7" name="Picture 6">
            <a:extLst>
              <a:ext uri="{FF2B5EF4-FFF2-40B4-BE49-F238E27FC236}">
                <a16:creationId xmlns:a16="http://schemas.microsoft.com/office/drawing/2014/main" id="{1C634328-EAD2-ADD9-9088-A48D272862B8}"/>
              </a:ext>
            </a:extLst>
          </p:cNvPr>
          <p:cNvPicPr>
            <a:picLocks noChangeAspect="1"/>
          </p:cNvPicPr>
          <p:nvPr/>
        </p:nvPicPr>
        <p:blipFill>
          <a:blip r:embed="rId4"/>
          <a:stretch>
            <a:fillRect/>
          </a:stretch>
        </p:blipFill>
        <p:spPr>
          <a:xfrm>
            <a:off x="1969676" y="3857994"/>
            <a:ext cx="3381847" cy="1305107"/>
          </a:xfrm>
          <a:prstGeom prst="rect">
            <a:avLst/>
          </a:prstGeom>
          <a:ln>
            <a:solidFill>
              <a:schemeClr val="tx1"/>
            </a:solidFill>
          </a:ln>
        </p:spPr>
      </p:pic>
    </p:spTree>
    <p:extLst>
      <p:ext uri="{BB962C8B-B14F-4D97-AF65-F5344CB8AC3E}">
        <p14:creationId xmlns:p14="http://schemas.microsoft.com/office/powerpoint/2010/main" val="362135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3D0B1-DB1F-51BC-EBD3-28CBDAF5A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6C7A7-7ABF-1FA6-3818-F810EF4BA8B1}"/>
              </a:ext>
            </a:extLst>
          </p:cNvPr>
          <p:cNvSpPr>
            <a:spLocks noGrp="1"/>
          </p:cNvSpPr>
          <p:nvPr>
            <p:ph type="title"/>
          </p:nvPr>
        </p:nvSpPr>
        <p:spPr/>
        <p:txBody>
          <a:bodyPr/>
          <a:lstStyle/>
          <a:p>
            <a:r>
              <a:rPr lang="en-US" dirty="0"/>
              <a:t>Maximum velocity and acceleration of the follower on the return stroke</a:t>
            </a:r>
          </a:p>
        </p:txBody>
      </p:sp>
      <p:pic>
        <p:nvPicPr>
          <p:cNvPr id="6" name="Picture 5">
            <a:extLst>
              <a:ext uri="{FF2B5EF4-FFF2-40B4-BE49-F238E27FC236}">
                <a16:creationId xmlns:a16="http://schemas.microsoft.com/office/drawing/2014/main" id="{D88F3CE4-E98A-D0C6-83BF-CA97DA835551}"/>
              </a:ext>
            </a:extLst>
          </p:cNvPr>
          <p:cNvPicPr>
            <a:picLocks noChangeAspect="1"/>
          </p:cNvPicPr>
          <p:nvPr/>
        </p:nvPicPr>
        <p:blipFill>
          <a:blip r:embed="rId2"/>
          <a:stretch>
            <a:fillRect/>
          </a:stretch>
        </p:blipFill>
        <p:spPr>
          <a:xfrm>
            <a:off x="7172895" y="1690688"/>
            <a:ext cx="4528265" cy="3186557"/>
          </a:xfrm>
          <a:prstGeom prst="rect">
            <a:avLst/>
          </a:prstGeom>
        </p:spPr>
      </p:pic>
      <p:pic>
        <p:nvPicPr>
          <p:cNvPr id="4" name="Picture 3">
            <a:extLst>
              <a:ext uri="{FF2B5EF4-FFF2-40B4-BE49-F238E27FC236}">
                <a16:creationId xmlns:a16="http://schemas.microsoft.com/office/drawing/2014/main" id="{D617CAE7-6FEE-3DA0-6391-8DA2ACFA67F8}"/>
              </a:ext>
            </a:extLst>
          </p:cNvPr>
          <p:cNvPicPr>
            <a:picLocks noChangeAspect="1"/>
          </p:cNvPicPr>
          <p:nvPr/>
        </p:nvPicPr>
        <p:blipFill>
          <a:blip r:embed="rId3"/>
          <a:stretch>
            <a:fillRect/>
          </a:stretch>
        </p:blipFill>
        <p:spPr>
          <a:xfrm>
            <a:off x="2970945" y="2159859"/>
            <a:ext cx="2048161" cy="1124107"/>
          </a:xfrm>
          <a:prstGeom prst="rect">
            <a:avLst/>
          </a:prstGeom>
          <a:ln>
            <a:solidFill>
              <a:schemeClr val="tx1"/>
            </a:solidFill>
          </a:ln>
        </p:spPr>
      </p:pic>
      <p:pic>
        <p:nvPicPr>
          <p:cNvPr id="8" name="Picture 7">
            <a:extLst>
              <a:ext uri="{FF2B5EF4-FFF2-40B4-BE49-F238E27FC236}">
                <a16:creationId xmlns:a16="http://schemas.microsoft.com/office/drawing/2014/main" id="{BE50BD37-3D1E-B9BD-0D6F-A42407D0B563}"/>
              </a:ext>
            </a:extLst>
          </p:cNvPr>
          <p:cNvPicPr>
            <a:picLocks noChangeAspect="1"/>
          </p:cNvPicPr>
          <p:nvPr/>
        </p:nvPicPr>
        <p:blipFill>
          <a:blip r:embed="rId4"/>
          <a:stretch>
            <a:fillRect/>
          </a:stretch>
        </p:blipFill>
        <p:spPr>
          <a:xfrm>
            <a:off x="2805230" y="3843093"/>
            <a:ext cx="2400635" cy="1295581"/>
          </a:xfrm>
          <a:prstGeom prst="rect">
            <a:avLst/>
          </a:prstGeom>
          <a:ln>
            <a:solidFill>
              <a:schemeClr val="tx1"/>
            </a:solidFill>
          </a:ln>
        </p:spPr>
      </p:pic>
    </p:spTree>
    <p:extLst>
      <p:ext uri="{BB962C8B-B14F-4D97-AF65-F5344CB8AC3E}">
        <p14:creationId xmlns:p14="http://schemas.microsoft.com/office/powerpoint/2010/main" val="3026554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4A981-3343-48B6-57AE-EDBE74D1F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1D86C-513C-1C64-C049-430341393004}"/>
              </a:ext>
            </a:extLst>
          </p:cNvPr>
          <p:cNvSpPr>
            <a:spLocks noGrp="1"/>
          </p:cNvSpPr>
          <p:nvPr>
            <p:ph type="title"/>
          </p:nvPr>
        </p:nvSpPr>
        <p:spPr/>
        <p:txBody>
          <a:bodyPr/>
          <a:lstStyle/>
          <a:p>
            <a:r>
              <a:rPr lang="en-US" dirty="0"/>
              <a:t>Development of cam profile</a:t>
            </a:r>
          </a:p>
        </p:txBody>
      </p:sp>
      <p:sp>
        <p:nvSpPr>
          <p:cNvPr id="3" name="Text Placeholder 2">
            <a:extLst>
              <a:ext uri="{FF2B5EF4-FFF2-40B4-BE49-F238E27FC236}">
                <a16:creationId xmlns:a16="http://schemas.microsoft.com/office/drawing/2014/main" id="{18F55CF2-B32B-3098-FCD1-BB811386C0EE}"/>
              </a:ext>
            </a:extLst>
          </p:cNvPr>
          <p:cNvSpPr>
            <a:spLocks noGrp="1"/>
          </p:cNvSpPr>
          <p:nvPr>
            <p:ph type="body" idx="1"/>
          </p:nvPr>
        </p:nvSpPr>
        <p:spPr>
          <a:xfrm>
            <a:off x="949836" y="4454628"/>
            <a:ext cx="10515600" cy="1500187"/>
          </a:xfrm>
        </p:spPr>
        <p:txBody>
          <a:bodyPr/>
          <a:lstStyle/>
          <a:p>
            <a:r>
              <a:rPr lang="en-US" dirty="0"/>
              <a:t>Section 2</a:t>
            </a:r>
          </a:p>
        </p:txBody>
      </p:sp>
      <p:pic>
        <p:nvPicPr>
          <p:cNvPr id="3074" name="Picture 2" descr="Cam Nomenclature - Theory of Machines | Mechanical Engineering">
            <a:extLst>
              <a:ext uri="{FF2B5EF4-FFF2-40B4-BE49-F238E27FC236}">
                <a16:creationId xmlns:a16="http://schemas.microsoft.com/office/drawing/2014/main" id="{48E963FE-92C2-6C0B-2A52-D25F36B27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1135" y="0"/>
            <a:ext cx="4110865" cy="3765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461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6457"/>
            <a:ext cx="10515600" cy="1882900"/>
          </a:xfrm>
          <a:prstGeom prst="rect">
            <a:avLst/>
          </a:prstGeom>
        </p:spPr>
        <p:txBody>
          <a:bodyPr vert="horz" wrap="square" lIns="0" tIns="523570" rIns="0" bIns="0" rtlCol="0">
            <a:spAutoFit/>
          </a:bodyPr>
          <a:lstStyle/>
          <a:p>
            <a:pPr marL="12700">
              <a:lnSpc>
                <a:spcPct val="100000"/>
              </a:lnSpc>
              <a:spcBef>
                <a:spcPts val="105"/>
              </a:spcBef>
            </a:pPr>
            <a:br>
              <a:rPr lang="en-US" dirty="0"/>
            </a:br>
            <a:endParaRPr spc="-25" dirty="0"/>
          </a:p>
        </p:txBody>
      </p:sp>
      <p:sp>
        <p:nvSpPr>
          <p:cNvPr id="5" name="TextBox 4">
            <a:extLst>
              <a:ext uri="{FF2B5EF4-FFF2-40B4-BE49-F238E27FC236}">
                <a16:creationId xmlns:a16="http://schemas.microsoft.com/office/drawing/2014/main" id="{4F65CAF5-7C40-89C1-0CF9-FD02160DE0B0}"/>
              </a:ext>
            </a:extLst>
          </p:cNvPr>
          <p:cNvSpPr txBox="1"/>
          <p:nvPr/>
        </p:nvSpPr>
        <p:spPr>
          <a:xfrm>
            <a:off x="437535" y="318980"/>
            <a:ext cx="11316929" cy="2677656"/>
          </a:xfrm>
          <a:prstGeom prst="rect">
            <a:avLst/>
          </a:prstGeom>
          <a:noFill/>
        </p:spPr>
        <p:txBody>
          <a:bodyPr wrap="square">
            <a:spAutoFit/>
          </a:bodyPr>
          <a:lstStyle/>
          <a:p>
            <a:pPr algn="just"/>
            <a:r>
              <a:rPr lang="en-US" sz="2400" i="1" dirty="0"/>
              <a:t>A cam is to give the following motion to a knife-edged follower : 1. Outstroke during 60° of cam rotation ; 2. Dwell for the next 30° of cam rotation ; 3. Return stroke during next 60° of cam rotation, and 4. Dwell for the remaining 210° of cam rotation. The stroke of the follower is 40 mm and the minimum radius of the cam is 50 mm. The follower moves with uniform velocity during both the outstroke and return strokes. Draw the profile of the cam when (a) the axis of the follower passes through the axis of the cam shaft, and (b) the axis of the follower is offset by 20 mm from the axis of the cam shaft.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261" y="125528"/>
            <a:ext cx="10751401" cy="3842888"/>
          </a:xfrm>
          <a:prstGeom prst="rect">
            <a:avLst/>
          </a:prstGeom>
        </p:spPr>
      </p:pic>
      <p:pic>
        <p:nvPicPr>
          <p:cNvPr id="3" name="object 3"/>
          <p:cNvPicPr/>
          <p:nvPr/>
        </p:nvPicPr>
        <p:blipFill>
          <a:blip r:embed="rId3" cstate="print"/>
          <a:stretch>
            <a:fillRect/>
          </a:stretch>
        </p:blipFill>
        <p:spPr>
          <a:xfrm>
            <a:off x="1799827" y="4099975"/>
            <a:ext cx="7766406" cy="26217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347" y="1253934"/>
            <a:ext cx="10073247" cy="44473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61354" y="204363"/>
            <a:ext cx="8402212" cy="65064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7805" y="2955586"/>
            <a:ext cx="10066578" cy="2796281"/>
          </a:xfrm>
          <a:prstGeom prst="rect">
            <a:avLst/>
          </a:prstGeom>
        </p:spPr>
      </p:pic>
      <p:pic>
        <p:nvPicPr>
          <p:cNvPr id="3" name="object 3"/>
          <p:cNvPicPr/>
          <p:nvPr/>
        </p:nvPicPr>
        <p:blipFill>
          <a:blip r:embed="rId3" cstate="print"/>
          <a:stretch>
            <a:fillRect/>
          </a:stretch>
        </p:blipFill>
        <p:spPr>
          <a:xfrm>
            <a:off x="707931" y="302245"/>
            <a:ext cx="10090400" cy="22639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413" y="167824"/>
            <a:ext cx="9369178" cy="65648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89F1A9-9B72-63FB-8A31-9801D06EA66E}"/>
              </a:ext>
            </a:extLst>
          </p:cNvPr>
          <p:cNvSpPr txBox="1"/>
          <p:nvPr/>
        </p:nvSpPr>
        <p:spPr>
          <a:xfrm>
            <a:off x="545690" y="643444"/>
            <a:ext cx="10987549" cy="4524315"/>
          </a:xfrm>
          <a:prstGeom prst="rect">
            <a:avLst/>
          </a:prstGeom>
          <a:noFill/>
        </p:spPr>
        <p:txBody>
          <a:bodyPr wrap="square">
            <a:spAutoFit/>
          </a:bodyPr>
          <a:lstStyle/>
          <a:p>
            <a:pPr algn="just"/>
            <a:r>
              <a:rPr lang="en-US" sz="2400" i="1" dirty="0"/>
              <a:t>A cam is to be designed for a </a:t>
            </a:r>
            <a:r>
              <a:rPr lang="en-US" sz="2400" b="1" i="1" dirty="0"/>
              <a:t>knife edge follower </a:t>
            </a:r>
            <a:r>
              <a:rPr lang="en-US" sz="2400" i="1" dirty="0"/>
              <a:t>with the following data : </a:t>
            </a:r>
          </a:p>
          <a:p>
            <a:pPr algn="just"/>
            <a:r>
              <a:rPr lang="en-US" sz="2400" b="1" i="1" dirty="0"/>
              <a:t>1. Cam lift = 40 mm during 90° of cam rotation with </a:t>
            </a:r>
            <a:r>
              <a:rPr lang="en-US" sz="2400" b="1" i="1" u="sng" dirty="0"/>
              <a:t>simple harmonic motion</a:t>
            </a:r>
            <a:r>
              <a:rPr lang="en-US" sz="2400" b="1" i="1" dirty="0"/>
              <a:t>. </a:t>
            </a:r>
          </a:p>
          <a:p>
            <a:pPr algn="just"/>
            <a:r>
              <a:rPr lang="en-US" sz="2400" b="1" i="1" dirty="0"/>
              <a:t>2. Dwell for the next 30°. </a:t>
            </a:r>
          </a:p>
          <a:p>
            <a:pPr algn="just"/>
            <a:r>
              <a:rPr lang="en-US" sz="2400" b="1" i="1" dirty="0"/>
              <a:t>3. During the next 60° of cam rotation, the follower returns to its original position </a:t>
            </a:r>
          </a:p>
          <a:p>
            <a:pPr algn="just"/>
            <a:r>
              <a:rPr lang="en-US" sz="2400" b="1" i="1" dirty="0"/>
              <a:t>    with </a:t>
            </a:r>
            <a:r>
              <a:rPr lang="en-US" sz="2400" b="1" i="1" u="sng" dirty="0"/>
              <a:t>simple harmonic motion</a:t>
            </a:r>
            <a:r>
              <a:rPr lang="en-US" sz="2400" b="1" i="1" dirty="0"/>
              <a:t>. </a:t>
            </a:r>
          </a:p>
          <a:p>
            <a:pPr algn="just"/>
            <a:r>
              <a:rPr lang="en-US" sz="2400" b="1" i="1" dirty="0"/>
              <a:t>4. Dwell during the remaining 180°. </a:t>
            </a:r>
          </a:p>
          <a:p>
            <a:pPr algn="just"/>
            <a:r>
              <a:rPr lang="en-US" sz="2400" i="1" dirty="0"/>
              <a:t>Draw the profile of the cam when </a:t>
            </a:r>
          </a:p>
          <a:p>
            <a:pPr marL="457200" indent="-457200" algn="just">
              <a:buAutoNum type="alphaLcParenBoth"/>
            </a:pPr>
            <a:r>
              <a:rPr lang="en-US" sz="2400" i="1" dirty="0"/>
              <a:t>the line of stroke of the follower passes through the axis of the cam shaft, and </a:t>
            </a:r>
          </a:p>
          <a:p>
            <a:pPr algn="just"/>
            <a:r>
              <a:rPr lang="en-US" sz="2400" i="1" dirty="0"/>
              <a:t>(b) the line of stroke is offset 20 mm from the axis of the cam shaft. The radius of the </a:t>
            </a:r>
            <a:r>
              <a:rPr lang="en-US" sz="2400" b="1" i="1" dirty="0"/>
              <a:t>base circle of the cam is 40 mm. </a:t>
            </a:r>
          </a:p>
          <a:p>
            <a:pPr algn="just"/>
            <a:r>
              <a:rPr lang="en-US" sz="2400" i="1" dirty="0"/>
              <a:t>Determine the maximum velocity and acceleration of the follower during its ascent and descent, if the cam rotates at 240 </a:t>
            </a:r>
            <a:r>
              <a:rPr lang="en-US" sz="2400" i="1" dirty="0" err="1"/>
              <a:t>r.p.m</a:t>
            </a:r>
            <a:r>
              <a:rPr lang="en-US" sz="2400" i="1"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018" y="961681"/>
            <a:ext cx="10869497" cy="46807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4288" y="1284383"/>
            <a:ext cx="11444079" cy="42261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31978" y="132247"/>
            <a:ext cx="9474596" cy="6725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5780" y="54427"/>
            <a:ext cx="9098629" cy="66402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56806" y="256766"/>
            <a:ext cx="8068758" cy="64873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371274-0222-D655-38B0-91D054DD0EED}"/>
              </a:ext>
            </a:extLst>
          </p:cNvPr>
          <p:cNvSpPr txBox="1"/>
          <p:nvPr/>
        </p:nvSpPr>
        <p:spPr>
          <a:xfrm>
            <a:off x="403122" y="797510"/>
            <a:ext cx="11385755" cy="5262979"/>
          </a:xfrm>
          <a:prstGeom prst="rect">
            <a:avLst/>
          </a:prstGeom>
          <a:noFill/>
        </p:spPr>
        <p:txBody>
          <a:bodyPr wrap="square">
            <a:spAutoFit/>
          </a:bodyPr>
          <a:lstStyle/>
          <a:p>
            <a:pPr algn="just"/>
            <a:r>
              <a:rPr lang="en-US" sz="2400" i="1" dirty="0"/>
              <a:t>A cam, with a </a:t>
            </a:r>
            <a:r>
              <a:rPr lang="en-US" sz="2400" b="1" i="1" dirty="0"/>
              <a:t>minimum radius of 25 mm</a:t>
            </a:r>
            <a:r>
              <a:rPr lang="en-US" sz="2400" i="1" dirty="0"/>
              <a:t>, rotating clockwise at </a:t>
            </a:r>
            <a:r>
              <a:rPr lang="en-US" sz="2400" b="1" i="1" u="sng" dirty="0"/>
              <a:t>a uniform speed </a:t>
            </a:r>
            <a:r>
              <a:rPr lang="en-US" sz="2400" i="1" dirty="0"/>
              <a:t>is to be designed to give </a:t>
            </a:r>
            <a:r>
              <a:rPr lang="en-US" sz="2400" b="1" i="1" u="sng" dirty="0"/>
              <a:t>a roller follower</a:t>
            </a:r>
            <a:r>
              <a:rPr lang="en-US" sz="2400" i="1" dirty="0"/>
              <a:t>, at the end of a valve rod, motion described below : </a:t>
            </a:r>
          </a:p>
          <a:p>
            <a:pPr algn="just"/>
            <a:r>
              <a:rPr lang="en-US" sz="2400" b="1" i="1" dirty="0"/>
              <a:t>1. To raise the valve through 50 mm during 120° rotation of the cam ; </a:t>
            </a:r>
          </a:p>
          <a:p>
            <a:pPr algn="just"/>
            <a:r>
              <a:rPr lang="en-US" sz="2400" b="1" i="1" dirty="0"/>
              <a:t>2. To keep the valve fully raised through next 30°; </a:t>
            </a:r>
          </a:p>
          <a:p>
            <a:pPr algn="just"/>
            <a:r>
              <a:rPr lang="en-US" sz="2400" b="1" i="1" dirty="0"/>
              <a:t>3. To lower the valve during next 60°; and </a:t>
            </a:r>
          </a:p>
          <a:p>
            <a:pPr algn="just"/>
            <a:r>
              <a:rPr lang="en-US" sz="2400" b="1" i="1" dirty="0"/>
              <a:t>4. To keep the valve closed during rest of the revolution i.e. 150° </a:t>
            </a:r>
            <a:r>
              <a:rPr lang="en-US" sz="2400" i="1" dirty="0"/>
              <a:t>; </a:t>
            </a:r>
            <a:r>
              <a:rPr lang="en-US" sz="2400" b="1" i="1" dirty="0"/>
              <a:t>The diameter of the roller is 20 mm and the diameter of the cam shaft is 25 mm. </a:t>
            </a:r>
          </a:p>
          <a:p>
            <a:pPr algn="just"/>
            <a:r>
              <a:rPr lang="en-US" sz="2400" i="1" dirty="0"/>
              <a:t>Draw the profile of the cam when </a:t>
            </a:r>
          </a:p>
          <a:p>
            <a:pPr algn="just"/>
            <a:r>
              <a:rPr lang="en-US" sz="2400" i="1" dirty="0"/>
              <a:t>(a) the line of stroke of the valve rod passes through the axis of the cam shaft, and </a:t>
            </a:r>
          </a:p>
          <a:p>
            <a:pPr algn="just"/>
            <a:r>
              <a:rPr lang="en-US" sz="2400" i="1" dirty="0"/>
              <a:t>(b) the line of the stroke is offset 15 mm from the axis of the cam shaft. The displacement of the valve, while being raised and lowered, is to take place with simple harmonic motion. Determine the maximum acceleration of the valve rod when the cam shaft rotates at 100 </a:t>
            </a:r>
            <a:r>
              <a:rPr lang="en-US" sz="2400" i="1" dirty="0" err="1"/>
              <a:t>r.p.m</a:t>
            </a:r>
            <a:r>
              <a:rPr lang="en-US" sz="2400" i="1" dirty="0"/>
              <a:t>. Draw the displacement, the velocity and the acceleration diagrams for one complete revolution of the cam.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501" y="0"/>
            <a:ext cx="8420330" cy="68579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1836" y="478121"/>
            <a:ext cx="6208876" cy="59782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77657" y="471563"/>
            <a:ext cx="6368245" cy="53680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351C0E-4EB2-50AD-DB5B-D750D2A185F3}"/>
              </a:ext>
            </a:extLst>
          </p:cNvPr>
          <p:cNvSpPr txBox="1"/>
          <p:nvPr/>
        </p:nvSpPr>
        <p:spPr>
          <a:xfrm>
            <a:off x="619432" y="409166"/>
            <a:ext cx="10953135" cy="2308324"/>
          </a:xfrm>
          <a:prstGeom prst="rect">
            <a:avLst/>
          </a:prstGeom>
          <a:noFill/>
        </p:spPr>
        <p:txBody>
          <a:bodyPr wrap="square">
            <a:spAutoFit/>
          </a:bodyPr>
          <a:lstStyle/>
          <a:p>
            <a:pPr algn="just"/>
            <a:r>
              <a:rPr lang="en-US" sz="2400" i="1" dirty="0"/>
              <a:t>A cam drives a </a:t>
            </a:r>
            <a:r>
              <a:rPr lang="en-US" sz="2400" b="1" i="1" u="sng" dirty="0"/>
              <a:t>flat reciprocating follower </a:t>
            </a:r>
            <a:r>
              <a:rPr lang="en-US" sz="2400" i="1" dirty="0"/>
              <a:t>in the following manner : </a:t>
            </a:r>
            <a:r>
              <a:rPr lang="en-US" sz="2400" b="1" i="1" dirty="0"/>
              <a:t>During first 120° rotation of the cam, follower moves outwards through a distance of 20 mm with </a:t>
            </a:r>
            <a:r>
              <a:rPr lang="en-US" sz="2400" b="1" i="1" u="sng" dirty="0"/>
              <a:t>simple harmonic motion</a:t>
            </a:r>
            <a:r>
              <a:rPr lang="en-US" sz="2400" b="1" i="1" dirty="0"/>
              <a:t>. The follower dwells during next 30° of cam rotation. During next 120° of cam rotation, the follower moves inwards with </a:t>
            </a:r>
            <a:r>
              <a:rPr lang="en-US" sz="2400" b="1" i="1" u="sng" dirty="0"/>
              <a:t>simple harmonic motion</a:t>
            </a:r>
            <a:r>
              <a:rPr lang="en-US" sz="2400" i="1" dirty="0"/>
              <a:t>. </a:t>
            </a:r>
            <a:r>
              <a:rPr lang="en-US" sz="2400" b="1" i="1" dirty="0"/>
              <a:t>The follower dwells for the next 90° of cam rotation</a:t>
            </a:r>
            <a:r>
              <a:rPr lang="en-US" sz="2400" i="1" dirty="0"/>
              <a:t>. </a:t>
            </a:r>
            <a:r>
              <a:rPr lang="en-US" sz="2400" b="1" i="1" dirty="0"/>
              <a:t>The minimum radius of the cam is 25 mm.</a:t>
            </a:r>
            <a:r>
              <a:rPr lang="en-US" sz="2400" i="1" dirty="0"/>
              <a:t> Draw the profile of the cam.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90E8E4-FEE9-BF01-D342-18417FFDDD72}"/>
              </a:ext>
            </a:extLst>
          </p:cNvPr>
          <p:cNvPicPr>
            <a:picLocks noChangeAspect="1"/>
          </p:cNvPicPr>
          <p:nvPr/>
        </p:nvPicPr>
        <p:blipFill>
          <a:blip r:embed="rId2"/>
          <a:stretch>
            <a:fillRect/>
          </a:stretch>
        </p:blipFill>
        <p:spPr>
          <a:xfrm>
            <a:off x="504044" y="1490392"/>
            <a:ext cx="11183911" cy="3877216"/>
          </a:xfrm>
          <a:prstGeom prst="rect">
            <a:avLst/>
          </a:prstGeom>
        </p:spPr>
      </p:pic>
      <p:sp>
        <p:nvSpPr>
          <p:cNvPr id="4" name="TextBox 3">
            <a:extLst>
              <a:ext uri="{FF2B5EF4-FFF2-40B4-BE49-F238E27FC236}">
                <a16:creationId xmlns:a16="http://schemas.microsoft.com/office/drawing/2014/main" id="{61BB6BD2-D827-F9B8-B9E1-1B4A5767F055}"/>
              </a:ext>
            </a:extLst>
          </p:cNvPr>
          <p:cNvSpPr txBox="1"/>
          <p:nvPr/>
        </p:nvSpPr>
        <p:spPr>
          <a:xfrm>
            <a:off x="1288026" y="806245"/>
            <a:ext cx="3155031" cy="461665"/>
          </a:xfrm>
          <a:prstGeom prst="rect">
            <a:avLst/>
          </a:prstGeom>
          <a:noFill/>
        </p:spPr>
        <p:txBody>
          <a:bodyPr wrap="none" rtlCol="0">
            <a:spAutoFit/>
          </a:bodyPr>
          <a:lstStyle/>
          <a:p>
            <a:r>
              <a:rPr lang="en-US" sz="2400" b="1" dirty="0"/>
              <a:t>Displacement Diagram:</a:t>
            </a:r>
          </a:p>
        </p:txBody>
      </p:sp>
    </p:spTree>
    <p:extLst>
      <p:ext uri="{BB962C8B-B14F-4D97-AF65-F5344CB8AC3E}">
        <p14:creationId xmlns:p14="http://schemas.microsoft.com/office/powerpoint/2010/main" val="1174792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7A1A9-571A-6983-984E-8CFD494DC15B}"/>
              </a:ext>
            </a:extLst>
          </p:cNvPr>
          <p:cNvPicPr>
            <a:picLocks noChangeAspect="1"/>
          </p:cNvPicPr>
          <p:nvPr/>
        </p:nvPicPr>
        <p:blipFill>
          <a:blip r:embed="rId2"/>
          <a:stretch>
            <a:fillRect/>
          </a:stretch>
        </p:blipFill>
        <p:spPr>
          <a:xfrm>
            <a:off x="1956810" y="1104440"/>
            <a:ext cx="8278380" cy="2191056"/>
          </a:xfrm>
          <a:prstGeom prst="rect">
            <a:avLst/>
          </a:prstGeom>
        </p:spPr>
      </p:pic>
      <p:pic>
        <p:nvPicPr>
          <p:cNvPr id="7" name="Picture 6">
            <a:extLst>
              <a:ext uri="{FF2B5EF4-FFF2-40B4-BE49-F238E27FC236}">
                <a16:creationId xmlns:a16="http://schemas.microsoft.com/office/drawing/2014/main" id="{C03DBF88-CB6C-C983-E96B-59FD39C68D7D}"/>
              </a:ext>
            </a:extLst>
          </p:cNvPr>
          <p:cNvPicPr>
            <a:picLocks noChangeAspect="1"/>
          </p:cNvPicPr>
          <p:nvPr/>
        </p:nvPicPr>
        <p:blipFill>
          <a:blip r:embed="rId3"/>
          <a:stretch>
            <a:fillRect/>
          </a:stretch>
        </p:blipFill>
        <p:spPr>
          <a:xfrm>
            <a:off x="1956809" y="3295495"/>
            <a:ext cx="8244847" cy="1915601"/>
          </a:xfrm>
          <a:prstGeom prst="rect">
            <a:avLst/>
          </a:prstGeom>
        </p:spPr>
      </p:pic>
    </p:spTree>
    <p:extLst>
      <p:ext uri="{BB962C8B-B14F-4D97-AF65-F5344CB8AC3E}">
        <p14:creationId xmlns:p14="http://schemas.microsoft.com/office/powerpoint/2010/main" val="2277452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3AEB7B-8A3F-B5A4-B2B0-F9DFFBBFD592}"/>
              </a:ext>
            </a:extLst>
          </p:cNvPr>
          <p:cNvPicPr>
            <a:picLocks noChangeAspect="1"/>
          </p:cNvPicPr>
          <p:nvPr/>
        </p:nvPicPr>
        <p:blipFill>
          <a:blip r:embed="rId2"/>
          <a:stretch>
            <a:fillRect/>
          </a:stretch>
        </p:blipFill>
        <p:spPr>
          <a:xfrm>
            <a:off x="2928610" y="415627"/>
            <a:ext cx="6334780" cy="6026746"/>
          </a:xfrm>
          <a:prstGeom prst="rect">
            <a:avLst/>
          </a:prstGeom>
        </p:spPr>
      </p:pic>
    </p:spTree>
    <p:extLst>
      <p:ext uri="{BB962C8B-B14F-4D97-AF65-F5344CB8AC3E}">
        <p14:creationId xmlns:p14="http://schemas.microsoft.com/office/powerpoint/2010/main" val="3132735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1B2449-5659-07E7-D493-4FE0A402E78C}"/>
              </a:ext>
            </a:extLst>
          </p:cNvPr>
          <p:cNvSpPr txBox="1"/>
          <p:nvPr/>
        </p:nvSpPr>
        <p:spPr>
          <a:xfrm>
            <a:off x="427703" y="382012"/>
            <a:ext cx="11336594" cy="3046988"/>
          </a:xfrm>
          <a:prstGeom prst="rect">
            <a:avLst/>
          </a:prstGeom>
          <a:noFill/>
        </p:spPr>
        <p:txBody>
          <a:bodyPr wrap="square">
            <a:spAutoFit/>
          </a:bodyPr>
          <a:lstStyle/>
          <a:p>
            <a:pPr algn="just"/>
            <a:r>
              <a:rPr lang="en-US" sz="2400" i="1" dirty="0"/>
              <a:t>Draw a cam profile to drive an oscillating roller follower to the specifications given below : (a) Follower to move outwards through an angular displacement of 20° during the first 120° rotation of the cam ; </a:t>
            </a:r>
          </a:p>
          <a:p>
            <a:pPr algn="just"/>
            <a:r>
              <a:rPr lang="en-US" sz="2400" i="1" dirty="0"/>
              <a:t>(b) Follower to return to its initial position during next 120° rotation of the cam ; </a:t>
            </a:r>
          </a:p>
          <a:p>
            <a:pPr algn="just"/>
            <a:r>
              <a:rPr lang="en-US" sz="2400" i="1" dirty="0"/>
              <a:t>(c) Follower to dwell during the next 120° of cam rotation. </a:t>
            </a:r>
          </a:p>
          <a:p>
            <a:pPr algn="just"/>
            <a:r>
              <a:rPr lang="en-US" sz="2400" i="1" dirty="0"/>
              <a:t>The distance between pivot </a:t>
            </a:r>
            <a:r>
              <a:rPr lang="en-US" sz="2400" i="1" dirty="0" err="1"/>
              <a:t>centre</a:t>
            </a:r>
            <a:r>
              <a:rPr lang="en-US" sz="2400" i="1" dirty="0"/>
              <a:t> and roller </a:t>
            </a:r>
            <a:r>
              <a:rPr lang="en-US" sz="2400" i="1" dirty="0" err="1"/>
              <a:t>centre</a:t>
            </a:r>
            <a:r>
              <a:rPr lang="en-US" sz="2400" i="1" dirty="0"/>
              <a:t> = 120 mm ; distance between pivot </a:t>
            </a:r>
            <a:r>
              <a:rPr lang="en-US" sz="2400" i="1" dirty="0" err="1"/>
              <a:t>centre</a:t>
            </a:r>
            <a:r>
              <a:rPr lang="en-US" sz="2400" i="1" dirty="0"/>
              <a:t> and cam axis = 130 mm ; minimum radius of cam = 40 mm ; radius of roller = 10 mm ; inward and outward strokes take place with simple harmonic motion.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9E4657-93E7-3E6C-3359-69415ACB35D9}"/>
              </a:ext>
            </a:extLst>
          </p:cNvPr>
          <p:cNvPicPr>
            <a:picLocks noChangeAspect="1"/>
          </p:cNvPicPr>
          <p:nvPr/>
        </p:nvPicPr>
        <p:blipFill>
          <a:blip r:embed="rId2"/>
          <a:stretch>
            <a:fillRect/>
          </a:stretch>
        </p:blipFill>
        <p:spPr>
          <a:xfrm>
            <a:off x="1905231" y="1852825"/>
            <a:ext cx="8381538" cy="3152349"/>
          </a:xfrm>
          <a:prstGeom prst="rect">
            <a:avLst/>
          </a:prstGeom>
        </p:spPr>
      </p:pic>
    </p:spTree>
    <p:extLst>
      <p:ext uri="{BB962C8B-B14F-4D97-AF65-F5344CB8AC3E}">
        <p14:creationId xmlns:p14="http://schemas.microsoft.com/office/powerpoint/2010/main" val="690908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16B487-1EFF-62E3-4745-A9ADCBCA2DE3}"/>
              </a:ext>
            </a:extLst>
          </p:cNvPr>
          <p:cNvPicPr>
            <a:picLocks noChangeAspect="1"/>
          </p:cNvPicPr>
          <p:nvPr/>
        </p:nvPicPr>
        <p:blipFill>
          <a:blip r:embed="rId2"/>
          <a:stretch>
            <a:fillRect/>
          </a:stretch>
        </p:blipFill>
        <p:spPr>
          <a:xfrm>
            <a:off x="2042547" y="337830"/>
            <a:ext cx="8106906" cy="2210108"/>
          </a:xfrm>
          <a:prstGeom prst="rect">
            <a:avLst/>
          </a:prstGeom>
        </p:spPr>
      </p:pic>
      <p:pic>
        <p:nvPicPr>
          <p:cNvPr id="5" name="Picture 4">
            <a:extLst>
              <a:ext uri="{FF2B5EF4-FFF2-40B4-BE49-F238E27FC236}">
                <a16:creationId xmlns:a16="http://schemas.microsoft.com/office/drawing/2014/main" id="{4541B111-AAB5-8BD4-7A25-917E23EBE95B}"/>
              </a:ext>
            </a:extLst>
          </p:cNvPr>
          <p:cNvPicPr>
            <a:picLocks noChangeAspect="1"/>
          </p:cNvPicPr>
          <p:nvPr/>
        </p:nvPicPr>
        <p:blipFill>
          <a:blip r:embed="rId3"/>
          <a:stretch>
            <a:fillRect/>
          </a:stretch>
        </p:blipFill>
        <p:spPr>
          <a:xfrm>
            <a:off x="2471231" y="2547938"/>
            <a:ext cx="7678222" cy="2219635"/>
          </a:xfrm>
          <a:prstGeom prst="rect">
            <a:avLst/>
          </a:prstGeom>
        </p:spPr>
      </p:pic>
      <p:pic>
        <p:nvPicPr>
          <p:cNvPr id="7" name="Picture 6">
            <a:extLst>
              <a:ext uri="{FF2B5EF4-FFF2-40B4-BE49-F238E27FC236}">
                <a16:creationId xmlns:a16="http://schemas.microsoft.com/office/drawing/2014/main" id="{3A5980ED-3525-982A-0D7B-8ADFA47745C9}"/>
              </a:ext>
            </a:extLst>
          </p:cNvPr>
          <p:cNvPicPr>
            <a:picLocks noChangeAspect="1"/>
          </p:cNvPicPr>
          <p:nvPr/>
        </p:nvPicPr>
        <p:blipFill>
          <a:blip r:embed="rId4"/>
          <a:stretch>
            <a:fillRect/>
          </a:stretch>
        </p:blipFill>
        <p:spPr>
          <a:xfrm>
            <a:off x="2306662" y="4767728"/>
            <a:ext cx="7716327" cy="1971950"/>
          </a:xfrm>
          <a:prstGeom prst="rect">
            <a:avLst/>
          </a:prstGeom>
        </p:spPr>
      </p:pic>
    </p:spTree>
    <p:extLst>
      <p:ext uri="{BB962C8B-B14F-4D97-AF65-F5344CB8AC3E}">
        <p14:creationId xmlns:p14="http://schemas.microsoft.com/office/powerpoint/2010/main" val="3198667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5649C0-F5E4-0463-764D-DF3237153C32}"/>
              </a:ext>
            </a:extLst>
          </p:cNvPr>
          <p:cNvPicPr>
            <a:picLocks noChangeAspect="1"/>
          </p:cNvPicPr>
          <p:nvPr/>
        </p:nvPicPr>
        <p:blipFill>
          <a:blip r:embed="rId2"/>
          <a:stretch>
            <a:fillRect/>
          </a:stretch>
        </p:blipFill>
        <p:spPr>
          <a:xfrm>
            <a:off x="2790724" y="916858"/>
            <a:ext cx="6610551" cy="5024284"/>
          </a:xfrm>
          <a:prstGeom prst="rect">
            <a:avLst/>
          </a:prstGeom>
        </p:spPr>
      </p:pic>
    </p:spTree>
    <p:extLst>
      <p:ext uri="{BB962C8B-B14F-4D97-AF65-F5344CB8AC3E}">
        <p14:creationId xmlns:p14="http://schemas.microsoft.com/office/powerpoint/2010/main" val="1571226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E300C-1DD0-D541-E6FC-FD3E7B2BC7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C39D44-35F1-FBB0-6AFD-9A5E0B7023EA}"/>
              </a:ext>
            </a:extLst>
          </p:cNvPr>
          <p:cNvSpPr txBox="1"/>
          <p:nvPr/>
        </p:nvSpPr>
        <p:spPr>
          <a:xfrm>
            <a:off x="427703" y="382012"/>
            <a:ext cx="11336594" cy="6001643"/>
          </a:xfrm>
          <a:prstGeom prst="rect">
            <a:avLst/>
          </a:prstGeom>
          <a:noFill/>
        </p:spPr>
        <p:txBody>
          <a:bodyPr wrap="square">
            <a:spAutoFit/>
          </a:bodyPr>
          <a:lstStyle/>
          <a:p>
            <a:pPr algn="just"/>
            <a:r>
              <a:rPr lang="en-US" sz="2400" i="1" dirty="0"/>
              <a:t>A cam, with a minimum radius of 50 mm, rotating clockwise at a uniform speed, is required to give a knife edge follower the motion as described below : </a:t>
            </a:r>
          </a:p>
          <a:p>
            <a:pPr algn="just"/>
            <a:r>
              <a:rPr lang="en-US" sz="2400" i="1" dirty="0"/>
              <a:t>	1. To move outwards through 40 mm during 100° rotation of the cam ; </a:t>
            </a:r>
          </a:p>
          <a:p>
            <a:pPr algn="just"/>
            <a:r>
              <a:rPr lang="en-US" sz="2400" i="1" dirty="0"/>
              <a:t>	2. To dwell for next 80° ; </a:t>
            </a:r>
          </a:p>
          <a:p>
            <a:pPr algn="just"/>
            <a:r>
              <a:rPr lang="en-US" sz="2400" i="1" dirty="0"/>
              <a:t>	3. To return to its starting position during next 90°, and </a:t>
            </a:r>
          </a:p>
          <a:p>
            <a:pPr algn="just"/>
            <a:r>
              <a:rPr lang="en-US" sz="2400" i="1" dirty="0"/>
              <a:t>	4. To dwell for the rest period of a revolution i.e. 90°. </a:t>
            </a:r>
          </a:p>
          <a:p>
            <a:pPr algn="just"/>
            <a:r>
              <a:rPr lang="en-US" sz="2400" i="1" dirty="0"/>
              <a:t>Draw the profile of the cam </a:t>
            </a:r>
          </a:p>
          <a:p>
            <a:pPr algn="just"/>
            <a:r>
              <a:rPr lang="en-US" sz="2400" i="1" dirty="0"/>
              <a:t>	(</a:t>
            </a:r>
            <a:r>
              <a:rPr lang="en-US" sz="2400" i="1" dirty="0" err="1"/>
              <a:t>i</a:t>
            </a:r>
            <a:r>
              <a:rPr lang="en-US" sz="2400" i="1" dirty="0"/>
              <a:t>) when the line of stroke of the follower passes through the </a:t>
            </a:r>
            <a:r>
              <a:rPr lang="en-US" sz="2400" i="1" dirty="0" err="1"/>
              <a:t>centre</a:t>
            </a:r>
            <a:r>
              <a:rPr lang="en-US" sz="2400" i="1" dirty="0"/>
              <a:t> of the cam 		     shaft, and </a:t>
            </a:r>
          </a:p>
          <a:p>
            <a:pPr algn="just"/>
            <a:r>
              <a:rPr lang="en-US" sz="2400" i="1" dirty="0"/>
              <a:t>	(ii) when the line of stroke of the follower is off-set by 15 mm. </a:t>
            </a:r>
          </a:p>
          <a:p>
            <a:pPr algn="just"/>
            <a:endParaRPr lang="en-US" sz="2400" i="1" dirty="0"/>
          </a:p>
          <a:p>
            <a:pPr algn="just"/>
            <a:r>
              <a:rPr lang="en-US" sz="2400" i="1" dirty="0"/>
              <a:t>The displacement of the follower is to take place with uniform acceleration and uniform retardation. </a:t>
            </a:r>
          </a:p>
          <a:p>
            <a:pPr algn="just"/>
            <a:r>
              <a:rPr lang="en-US" sz="2400" i="1" dirty="0"/>
              <a:t>Determine the maximum velocity and acceleration of the follower when the cam shaft rotates at 900 </a:t>
            </a:r>
            <a:r>
              <a:rPr lang="en-US" sz="2400" i="1" dirty="0" err="1"/>
              <a:t>r.p.m</a:t>
            </a:r>
            <a:r>
              <a:rPr lang="en-US" sz="2400" i="1" dirty="0"/>
              <a:t>. Draw the displacement, velocity and acceleration diagrams for one complete revolution of the cam</a:t>
            </a:r>
          </a:p>
        </p:txBody>
      </p:sp>
    </p:spTree>
    <p:extLst>
      <p:ext uri="{BB962C8B-B14F-4D97-AF65-F5344CB8AC3E}">
        <p14:creationId xmlns:p14="http://schemas.microsoft.com/office/powerpoint/2010/main" val="3406231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EB7A-CA91-D8AB-464B-852DA9D25D6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E516EC-9B93-56A2-B4A0-E7213CD1D5EA}"/>
              </a:ext>
            </a:extLst>
          </p:cNvPr>
          <p:cNvSpPr txBox="1"/>
          <p:nvPr/>
        </p:nvSpPr>
        <p:spPr>
          <a:xfrm>
            <a:off x="427703" y="382012"/>
            <a:ext cx="11336594" cy="2308324"/>
          </a:xfrm>
          <a:prstGeom prst="rect">
            <a:avLst/>
          </a:prstGeom>
          <a:noFill/>
        </p:spPr>
        <p:txBody>
          <a:bodyPr wrap="square">
            <a:spAutoFit/>
          </a:bodyPr>
          <a:lstStyle/>
          <a:p>
            <a:pPr algn="just"/>
            <a:r>
              <a:rPr lang="en-US" sz="2400" i="1" dirty="0"/>
              <a:t>Design a cam for operating the exhaust valve of an oil engine. It is required to give equal uniform acceleration and retardation during opening and closing of the valve each of which corresponds to 60° of cam rotation. The valve must remain in the fully open position for 20° of cam rotation. The lift of the valve is 37.5 mm and the least radius of the cam is 40 mm. The follower is provided with a roller of radius 20 mm and its line of stroke passes through the axis of the cam.</a:t>
            </a:r>
          </a:p>
        </p:txBody>
      </p:sp>
    </p:spTree>
    <p:extLst>
      <p:ext uri="{BB962C8B-B14F-4D97-AF65-F5344CB8AC3E}">
        <p14:creationId xmlns:p14="http://schemas.microsoft.com/office/powerpoint/2010/main" val="2465967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A29A0-03D8-BECE-A68E-8B392574AA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88AE4C-F1F5-5327-160B-A423B0F3673A}"/>
              </a:ext>
            </a:extLst>
          </p:cNvPr>
          <p:cNvSpPr txBox="1"/>
          <p:nvPr/>
        </p:nvSpPr>
        <p:spPr>
          <a:xfrm>
            <a:off x="427703" y="382012"/>
            <a:ext cx="11336594" cy="4154984"/>
          </a:xfrm>
          <a:prstGeom prst="rect">
            <a:avLst/>
          </a:prstGeom>
          <a:noFill/>
        </p:spPr>
        <p:txBody>
          <a:bodyPr wrap="square">
            <a:spAutoFit/>
          </a:bodyPr>
          <a:lstStyle/>
          <a:p>
            <a:pPr algn="just"/>
            <a:r>
              <a:rPr lang="en-US" sz="2400" i="1" dirty="0"/>
              <a:t>A cam rotating clockwise at a uniform speed of 1000 </a:t>
            </a:r>
            <a:r>
              <a:rPr lang="en-US" sz="2400" i="1" dirty="0" err="1"/>
              <a:t>r.p.m</a:t>
            </a:r>
            <a:r>
              <a:rPr lang="en-US" sz="2400" i="1" dirty="0"/>
              <a:t>. is required to give a roller follower the motion defined below : </a:t>
            </a:r>
          </a:p>
          <a:p>
            <a:pPr algn="just"/>
            <a:r>
              <a:rPr lang="en-US" sz="2400" i="1" dirty="0"/>
              <a:t>	1. Follower to move outwards through 50 mm during 120° of cam rotation, </a:t>
            </a:r>
          </a:p>
          <a:p>
            <a:pPr algn="just"/>
            <a:r>
              <a:rPr lang="en-US" sz="2400" i="1" dirty="0"/>
              <a:t>	2. Follower to dwell for next 60° of cam rotation, </a:t>
            </a:r>
          </a:p>
          <a:p>
            <a:pPr algn="just"/>
            <a:r>
              <a:rPr lang="en-US" sz="2400" i="1" dirty="0"/>
              <a:t>	3. Follower to return to its starting position during next 90° of cam rotation, </a:t>
            </a:r>
          </a:p>
          <a:p>
            <a:pPr algn="just"/>
            <a:r>
              <a:rPr lang="en-US" sz="2400" i="1" dirty="0"/>
              <a:t>	4. Follower to dwell for the rest of the cam rotation. </a:t>
            </a:r>
          </a:p>
          <a:p>
            <a:pPr algn="just"/>
            <a:r>
              <a:rPr lang="en-US" sz="2400" i="1" dirty="0"/>
              <a:t>The minimum radius of the cam is 50 mm and the diameter of roller is 10 mm. The line of stroke of the follower is off-set by 20 mm from the axis of the cam shaft. If the displacement of the follower takes place with uniform and equal acceleration and retardation on both the outward and return strokes, draw profile of the cam and find the maximum velocity and acceleration during out stroke and return stroke.</a:t>
            </a:r>
          </a:p>
        </p:txBody>
      </p:sp>
    </p:spTree>
    <p:extLst>
      <p:ext uri="{BB962C8B-B14F-4D97-AF65-F5344CB8AC3E}">
        <p14:creationId xmlns:p14="http://schemas.microsoft.com/office/powerpoint/2010/main" val="3094361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B892-09E1-D9F6-D1A4-7D25486B58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9D1351-491D-E55C-7AC0-E12A215FB3E6}"/>
              </a:ext>
            </a:extLst>
          </p:cNvPr>
          <p:cNvSpPr txBox="1"/>
          <p:nvPr/>
        </p:nvSpPr>
        <p:spPr>
          <a:xfrm>
            <a:off x="427703" y="382012"/>
            <a:ext cx="11336594" cy="6001643"/>
          </a:xfrm>
          <a:prstGeom prst="rect">
            <a:avLst/>
          </a:prstGeom>
          <a:noFill/>
        </p:spPr>
        <p:txBody>
          <a:bodyPr wrap="square">
            <a:spAutoFit/>
          </a:bodyPr>
          <a:lstStyle/>
          <a:p>
            <a:pPr algn="just"/>
            <a:r>
              <a:rPr lang="en-US" sz="2400" i="1" dirty="0"/>
              <a:t>Construct the profile of a cam to suit the following specifications with roller follower mechanism : Cam shaft diameter = 40 mm ; Least radius of cam = 25 mm ; Diameter of roller = 25 mm; Angle of lift = 120° ; Angle of fall = 150° ; Lift of the follower = 40 mm ; Number of pauses are two of equal interval between motions.</a:t>
            </a:r>
          </a:p>
          <a:p>
            <a:pPr algn="just"/>
            <a:r>
              <a:rPr lang="en-US" sz="2400" i="1" dirty="0"/>
              <a:t>During the lift, the motion is S.H.M. During the fall the motion is uniform acceleration and deceleration. The speed of the cam shaft is uniform. The line of stroke of the follower is off-set 12.5 mm from the </a:t>
            </a:r>
            <a:r>
              <a:rPr lang="en-US" sz="2400" i="1" dirty="0" err="1"/>
              <a:t>centre</a:t>
            </a:r>
            <a:r>
              <a:rPr lang="en-US" sz="2400" i="1" dirty="0"/>
              <a:t> of the cam.</a:t>
            </a:r>
          </a:p>
          <a:p>
            <a:pPr algn="just"/>
            <a:endParaRPr lang="en-US" sz="2400" i="1" dirty="0"/>
          </a:p>
          <a:p>
            <a:pPr algn="just"/>
            <a:endParaRPr lang="en-US" sz="2400" i="1" dirty="0"/>
          </a:p>
          <a:p>
            <a:pPr algn="just"/>
            <a:endParaRPr lang="en-US" sz="2400" i="1" dirty="0"/>
          </a:p>
          <a:p>
            <a:pPr algn="just"/>
            <a:endParaRPr lang="en-US" sz="2400" i="1" dirty="0"/>
          </a:p>
          <a:p>
            <a:pPr algn="just"/>
            <a:endParaRPr lang="en-US" sz="2400" i="1" dirty="0"/>
          </a:p>
          <a:p>
            <a:pPr algn="just"/>
            <a:endParaRPr lang="en-US" sz="2400" i="1" dirty="0"/>
          </a:p>
          <a:p>
            <a:pPr algn="just"/>
            <a:endParaRPr lang="en-US" sz="2400" i="1" dirty="0"/>
          </a:p>
          <a:p>
            <a:pPr algn="just"/>
            <a:endParaRPr lang="en-US" sz="2400" i="1" dirty="0"/>
          </a:p>
          <a:p>
            <a:pPr algn="just"/>
            <a:endParaRPr lang="en-US" sz="2400" i="1" dirty="0"/>
          </a:p>
        </p:txBody>
      </p:sp>
    </p:spTree>
    <p:extLst>
      <p:ext uri="{BB962C8B-B14F-4D97-AF65-F5344CB8AC3E}">
        <p14:creationId xmlns:p14="http://schemas.microsoft.com/office/powerpoint/2010/main" val="2441230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945E2E-6F5D-AEFA-921F-CADAB2EFF83A}"/>
              </a:ext>
            </a:extLst>
          </p:cNvPr>
          <p:cNvSpPr txBox="1"/>
          <p:nvPr/>
        </p:nvSpPr>
        <p:spPr>
          <a:xfrm>
            <a:off x="314632" y="182225"/>
            <a:ext cx="11562735" cy="4893647"/>
          </a:xfrm>
          <a:prstGeom prst="rect">
            <a:avLst/>
          </a:prstGeom>
          <a:noFill/>
        </p:spPr>
        <p:txBody>
          <a:bodyPr wrap="square">
            <a:spAutoFit/>
          </a:bodyPr>
          <a:lstStyle/>
          <a:p>
            <a:pPr algn="just"/>
            <a:r>
              <a:rPr lang="en-US" sz="2400" i="1" dirty="0"/>
              <a:t>A cam operating a knife-edged follower has the following data :</a:t>
            </a:r>
          </a:p>
          <a:p>
            <a:pPr algn="just"/>
            <a:r>
              <a:rPr lang="en-US" sz="2400" i="1" dirty="0"/>
              <a:t>(a) Follower moves outwards through 40 mm during 60° of cam rotation.</a:t>
            </a:r>
          </a:p>
          <a:p>
            <a:pPr algn="just"/>
            <a:r>
              <a:rPr lang="en-US" sz="2400" i="1" dirty="0"/>
              <a:t>(b) Follower dwells for the next 45°.</a:t>
            </a:r>
          </a:p>
          <a:p>
            <a:pPr algn="just"/>
            <a:r>
              <a:rPr lang="en-US" sz="2400" i="1" dirty="0"/>
              <a:t>(c) Follower returns to its original position during next 90°.</a:t>
            </a:r>
          </a:p>
          <a:p>
            <a:pPr algn="just"/>
            <a:r>
              <a:rPr lang="en-US" sz="2400" i="1" dirty="0"/>
              <a:t>(d) Follower dwells for the rest of the rotation.</a:t>
            </a:r>
          </a:p>
          <a:p>
            <a:pPr algn="just"/>
            <a:r>
              <a:rPr lang="en-US" sz="2400" i="1" dirty="0"/>
              <a:t>The displacement of the follower is to take place with simple harmonic motion during both the outward and return strokes. The least radius of the cam is 50 mm. Draw the profile of the cam when</a:t>
            </a:r>
          </a:p>
          <a:p>
            <a:pPr algn="just"/>
            <a:r>
              <a:rPr lang="en-US" sz="2400" i="1" dirty="0"/>
              <a:t>1. the axis of the follower passes through the cam axis, and </a:t>
            </a:r>
          </a:p>
          <a:p>
            <a:pPr algn="just"/>
            <a:r>
              <a:rPr lang="en-US" sz="2400" i="1" dirty="0"/>
              <a:t>2. the axis of the follower is offset 20mm towards right from the cam axis. If the cam rotates at 300 </a:t>
            </a:r>
            <a:r>
              <a:rPr lang="en-US" sz="2400" i="1" dirty="0" err="1"/>
              <a:t>r.p.m</a:t>
            </a:r>
            <a:r>
              <a:rPr lang="en-US" sz="2400" i="1" dirty="0"/>
              <a:t>., determine maximum velocity and acceleration of the follower during the outward stroke and the return stroke.</a:t>
            </a:r>
          </a:p>
          <a:p>
            <a:pPr algn="just"/>
            <a:r>
              <a:rPr lang="en-US" sz="2400" i="1" dirty="0"/>
              <a:t>[Ans. 1.88 m/s, 1.26 m/s ; 177.7 m/s</a:t>
            </a:r>
            <a:r>
              <a:rPr lang="en-US" sz="2400" i="1" baseline="30000" dirty="0"/>
              <a:t>2</a:t>
            </a:r>
            <a:r>
              <a:rPr lang="en-US" sz="2400" i="1" dirty="0"/>
              <a:t>, 79 m/s</a:t>
            </a:r>
            <a:r>
              <a:rPr lang="en-US" sz="2400" i="1" baseline="30000" dirty="0"/>
              <a:t>2</a:t>
            </a:r>
            <a:r>
              <a:rPr lang="en-US" sz="2400" i="1" dirty="0"/>
              <a:t>]</a:t>
            </a:r>
          </a:p>
        </p:txBody>
      </p:sp>
    </p:spTree>
    <p:extLst>
      <p:ext uri="{BB962C8B-B14F-4D97-AF65-F5344CB8AC3E}">
        <p14:creationId xmlns:p14="http://schemas.microsoft.com/office/powerpoint/2010/main" val="1611899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6EB41-F311-CDF2-5DCC-383F84E67840}"/>
              </a:ext>
            </a:extLst>
          </p:cNvPr>
          <p:cNvSpPr>
            <a:spLocks noGrp="1"/>
          </p:cNvSpPr>
          <p:nvPr>
            <p:ph type="title"/>
          </p:nvPr>
        </p:nvSpPr>
        <p:spPr>
          <a:xfrm>
            <a:off x="838200" y="2766218"/>
            <a:ext cx="10515600" cy="1325563"/>
          </a:xfrm>
        </p:spPr>
        <p:txBody>
          <a:bodyPr/>
          <a:lstStyle/>
          <a:p>
            <a:pPr algn="ctr"/>
            <a:r>
              <a:rPr lang="en-US" b="1" dirty="0"/>
              <a:t>References: Theory of Machines by Khurmi</a:t>
            </a:r>
          </a:p>
        </p:txBody>
      </p:sp>
      <p:sp>
        <p:nvSpPr>
          <p:cNvPr id="3" name="Slide Number Placeholder 2">
            <a:extLst>
              <a:ext uri="{FF2B5EF4-FFF2-40B4-BE49-F238E27FC236}">
                <a16:creationId xmlns:a16="http://schemas.microsoft.com/office/drawing/2014/main" id="{5981E243-A591-6112-B7E9-D5CAB9FA6EFC}"/>
              </a:ext>
            </a:extLst>
          </p:cNvPr>
          <p:cNvSpPr>
            <a:spLocks noGrp="1"/>
          </p:cNvSpPr>
          <p:nvPr>
            <p:ph type="sldNum" sz="quarter" idx="12"/>
          </p:nvPr>
        </p:nvSpPr>
        <p:spPr/>
        <p:txBody>
          <a:bodyPr/>
          <a:lstStyle/>
          <a:p>
            <a:fld id="{58D452B8-95B0-46A1-9AE7-795525A62ED8}" type="slidenum">
              <a:rPr lang="en-US" smtClean="0"/>
              <a:t>42</a:t>
            </a:fld>
            <a:endParaRPr lang="en-US"/>
          </a:p>
        </p:txBody>
      </p:sp>
    </p:spTree>
    <p:extLst>
      <p:ext uri="{BB962C8B-B14F-4D97-AF65-F5344CB8AC3E}">
        <p14:creationId xmlns:p14="http://schemas.microsoft.com/office/powerpoint/2010/main" val="778098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1800</TotalTime>
  <Words>1655</Words>
  <Application>Microsoft Office PowerPoint</Application>
  <PresentationFormat>Widescreen</PresentationFormat>
  <Paragraphs>87</Paragraphs>
  <Slides>42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Cambria</vt:lpstr>
      <vt:lpstr>Office Theme</vt:lpstr>
      <vt:lpstr>Kinematics and Dynamics</vt:lpstr>
      <vt:lpstr>Cams</vt:lpstr>
      <vt:lpstr>Classification of Cams</vt:lpstr>
      <vt:lpstr>Terms</vt:lpstr>
      <vt:lpstr>Displacement, Velocity and Acceleration Diagrams when the Follower Moves with Uniform Acceleration and Retardation</vt:lpstr>
      <vt:lpstr>Displacement, Velocity and Acceleration Diagrams when the Follower Moves with Simple Harmonic Motion</vt:lpstr>
      <vt:lpstr>Analysis of cam and follower motion</vt:lpstr>
      <vt:lpstr>Peripheral Speed</vt:lpstr>
      <vt:lpstr>Centripetal acceleration of the point P</vt:lpstr>
      <vt:lpstr>Maximum velocity and acceleration of the follower on the outstroke</vt:lpstr>
      <vt:lpstr>Maximum velocity and acceleration of the follower on the return stroke</vt:lpstr>
      <vt:lpstr>Development of cam profile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Theory of Machines by Khurmi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PERERA W.T.R.T.</dc:creator>
  <cp:lastModifiedBy>PERERA W.T.R.T.</cp:lastModifiedBy>
  <cp:revision>5</cp:revision>
  <dcterms:created xsi:type="dcterms:W3CDTF">2025-07-10T18:34:29Z</dcterms:created>
  <dcterms:modified xsi:type="dcterms:W3CDTF">2025-08-10T20:21:21Z</dcterms:modified>
</cp:coreProperties>
</file>